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6ce4e1a98841b0" /><Relationship Type="http://schemas.openxmlformats.org/officeDocument/2006/relationships/extended-properties" Target="/docProps/app.xml" Id="R2d8a98c72c7049b8" /><Relationship Type="http://schemas.openxmlformats.org/officeDocument/2006/relationships/officeDocument" Target="/ppt/presentation.xml" Id="R54465cde50f94de4" /></Relationships>
</file>

<file path=ppt/presentation.xml><?xml version="1.0" encoding="utf-8"?>
<p:presentation xmlns:p="http://schemas.openxmlformats.org/presentationml/2006/main">
  <p:sldMasterIdLst>
    <p:sldMasterId xmlns:r="http://schemas.openxmlformats.org/officeDocument/2006/relationships" id="2147483648" r:id="R2a97fcbfec4d4a4c"/>
  </p:sldMasterIdLst>
  <p:notesMasterIdLst>
    <p:notesMasterId xmlns:r="http://schemas.openxmlformats.org/officeDocument/2006/relationships" r:id="R633578b7276b4b13"/>
  </p:notesMasterIdLst>
  <p:sldIdLst>
    <p:sldId xmlns:r="http://schemas.openxmlformats.org/officeDocument/2006/relationships" id="256" r:id="R03ba3ac1204944c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80b85d161943d2" /><Relationship Type="http://schemas.openxmlformats.org/officeDocument/2006/relationships/slideMaster" Target="/ppt/slideMasters/slideMaster1.xml" Id="R2a97fcbfec4d4a4c" /><Relationship Type="http://schemas.openxmlformats.org/officeDocument/2006/relationships/notesMaster" Target="/ppt/notesMasters/notesMaster1.xml" Id="R633578b7276b4b13" /><Relationship Type="http://schemas.openxmlformats.org/officeDocument/2006/relationships/presProps" Target="/ppt/presProps.xml" Id="Rad5dd488f64c49b9" /><Relationship Type="http://schemas.openxmlformats.org/officeDocument/2006/relationships/tableStyles" Target="/ppt/tableStyles.xml" Id="Rb73ddbafa72e4cd7" /><Relationship Type="http://schemas.openxmlformats.org/officeDocument/2006/relationships/slide" Target="/ppt/slides/slide1.xml" Id="R03ba3ac1204944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004adbfc5b47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032e42e1274512" /><Relationship Type="http://schemas.openxmlformats.org/officeDocument/2006/relationships/notesMaster" Target="/ppt/notesMasters/notesMaster1.xml" Id="R5fa2657f154547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microscope saves images in the user's NAS landing zone. The Hub API records acquisition metadata and offers the web and MATLAB catalogue. PostgreSQL stores catalogue entries, job state, project locks, Labguru links and pinned code versions. Linux workers connect directly to the VM database and operate on shared NAS files. Qwen inference runs locally on detecdiv-server via the Hub API; project completion and scripting tools are future capabilities. GitLab versions source code; workers use prepared, pinned releases. Workers execute Restic backup jobs and raw-data archive jobs to the dedicated archive share; source deletion is optional after successful archiving. The last documented check found scheduled backups disabled. Sources: CURRENT_DEPLOYMENT.md; docs/architecture.md; docs/qwen_assistant.md; docs/backup.md; docs/homes2_rollout.md; docs/windows_worker.md; docs/matlab_code_versions.md; docs/acquisition_widget_contract.md.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7f3db2141543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77c4a4cc574c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b6d1c8a0fc47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e21a65410b48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f3549bdee349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241335c1c546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C2BBEE-C9CE-421F-B1F9-6984FA937C2A}"/>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61F50B-FD96-4F02-879D-B388AFF01BE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BAB45C-B364-4652-8321-173F96FD3280}"/>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C9CA7D-455A-4087-890C-A00FF10693A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42602D-3CF0-4F0A-9CAA-5A59E486A46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F2E805-68D5-47A6-9351-4F80DD3A291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ADC637-81DA-4713-A7A2-2100CC2892D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D7B538-82D0-4D50-A5B1-0A3160F31FE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48E8A7-F9C7-4E33-BED4-16EEF005F23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01F71E-3E07-47D4-913B-AEE0A8E525F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aa5d9c896b4db4" /><Relationship Type="http://schemas.openxmlformats.org/officeDocument/2006/relationships/slideLayout" Target="/ppt/slideLayouts/slideLayout1.xml" Id="Rafa7add7edf640f8" /><Relationship Type="http://schemas.openxmlformats.org/officeDocument/2006/relationships/slideLayout" Target="/ppt/slideLayouts/slideLayout2.xml" Id="Ra8d448dbb0bc4308" /><Relationship Type="http://schemas.openxmlformats.org/officeDocument/2006/relationships/slideLayout" Target="/ppt/slideLayouts/slideLayout3.xml" Id="Ra4f5dd6dfbc64ca5" /><Relationship Type="http://schemas.openxmlformats.org/officeDocument/2006/relationships/slideLayout" Target="/ppt/slideLayouts/slideLayout4.xml" Id="R8a3abdbbd6104e0f" /><Relationship Type="http://schemas.openxmlformats.org/officeDocument/2006/relationships/slideLayout" Target="/ppt/slideLayouts/slideLayout5.xml" Id="Ra11ffc7231514fd4" /><Relationship Type="http://schemas.openxmlformats.org/officeDocument/2006/relationships/slideLayout" Target="/ppt/slideLayouts/slideLayout6.xml" Id="Ra296a3c0a7f045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a7add7edf640f8"/>
    <p:sldLayoutId xmlns:r="http://schemas.openxmlformats.org/officeDocument/2006/relationships" id="2147483650" r:id="Ra8d448dbb0bc4308"/>
    <p:sldLayoutId xmlns:r="http://schemas.openxmlformats.org/officeDocument/2006/relationships" id="2147483651" r:id="Ra4f5dd6dfbc64ca5"/>
    <p:sldLayoutId xmlns:r="http://schemas.openxmlformats.org/officeDocument/2006/relationships" id="2147483652" r:id="R8a3abdbbd6104e0f"/>
    <p:sldLayoutId xmlns:r="http://schemas.openxmlformats.org/officeDocument/2006/relationships" id="2147483653" r:id="Ra11ffc7231514fd4"/>
    <p:sldLayoutId xmlns:r="http://schemas.openxmlformats.org/officeDocument/2006/relationships" id="2147483654" r:id="Ra296a3c0a7f045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2098fa052b4675" /><Relationship Type="http://schemas.openxmlformats.org/officeDocument/2006/relationships/notesSlide" Target="/ppt/notesSlides/notesSlide1.xml" Id="R2728662abc4642f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text-1">
            <a:extLst xmlns:a="http://schemas.openxmlformats.org/drawingml/2006/main">
              <a:ext uri="{FF2B5EF4-FFF2-40B4-BE49-F238E27FC236}">
                <a16:creationId xmlns:a16="http://schemas.microsoft.com/office/drawing/2014/main" id="{0C575FD6-FD89-48F4-AE14-C29FCB244F2C}"/>
              </a:ext>
            </a:extLst>
          </p:cNvPr>
          <p:cNvSpPr>
            <a:spLocks xmlns:a="http://schemas.openxmlformats.org/drawingml/2006/main" noGrp="1"/>
          </p:cNvSpPr>
          <p:nvPr/>
        </p:nvSpPr>
        <p:spPr>
          <a:xfrm xmlns:a="http://schemas.openxmlformats.org/drawingml/2006/main">
            <a:off x="381000" y="219075"/>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82437"/>
                </a:solidFill>
                <a:latin typeface="Arial"/>
                <a:ea typeface="Arial"/>
                <a:cs typeface="Arial"/>
              </a:defRPr>
            </a:defPPr>
          </a:lstStyle>
          <a:p xmlns:a="http://schemas.openxmlformats.org/drawingml/2006/main">
            <a:pPr algn="l">
              <a:defRPr sz="3300" b="1">
                <a:solidFill>
                  <a:srgbClr val="182437"/>
                </a:solidFill>
                <a:latin typeface="Arial"/>
                <a:ea typeface="Arial"/>
                <a:cs typeface="Arial"/>
              </a:defRPr>
            </a:pPr>
            <a:r>
              <a:rPr sz="3300" b="1">
                <a:solidFill>
                  <a:srgbClr val="182437"/>
                </a:solidFill>
                <a:latin typeface="Arial"/>
                <a:ea typeface="Arial"/>
                <a:cs typeface="Arial"/>
              </a:rPr>
              <a:t>DetecDiv Hub</a:t>
            </a:r>
          </a:p>
        </p:txBody>
      </p:sp>
      <p:sp>
        <p:nvSpPr>
          <p:cNvPr id="2" name="text-2">
            <a:extLst xmlns:a="http://schemas.openxmlformats.org/drawingml/2006/main">
              <a:ext uri="{FF2B5EF4-FFF2-40B4-BE49-F238E27FC236}">
                <a16:creationId xmlns:a16="http://schemas.microsoft.com/office/drawing/2014/main" id="{ADCD432C-3014-414F-97E9-0F3591375523}"/>
              </a:ext>
            </a:extLst>
          </p:cNvPr>
          <p:cNvSpPr>
            <a:spLocks xmlns:a="http://schemas.openxmlformats.org/drawingml/2006/main" noGrp="1"/>
          </p:cNvSpPr>
          <p:nvPr/>
        </p:nvSpPr>
        <p:spPr>
          <a:xfrm xmlns:a="http://schemas.openxmlformats.org/drawingml/2006/main">
            <a:off x="9096375" y="352425"/>
            <a:ext cx="576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52637A"/>
                </a:solidFill>
                <a:latin typeface="Arial"/>
                <a:ea typeface="Arial"/>
                <a:cs typeface="Arial"/>
              </a:defRPr>
            </a:defPPr>
          </a:lstStyle>
          <a:p xmlns:a="http://schemas.openxmlformats.org/drawingml/2006/main">
            <a:pPr algn="l">
              <a:defRPr sz="1875" b="0">
                <a:solidFill>
                  <a:srgbClr val="52637A"/>
                </a:solidFill>
                <a:latin typeface="Arial"/>
                <a:ea typeface="Arial"/>
                <a:cs typeface="Arial"/>
              </a:defRPr>
            </a:pPr>
            <a:r>
              <a:rPr sz="1875" b="0">
                <a:solidFill>
                  <a:srgbClr val="52637A"/>
                </a:solidFill>
                <a:latin typeface="Arial"/>
                <a:ea typeface="Arial"/>
                <a:cs typeface="Arial"/>
              </a:rPr>
              <a:t>Acquire · catalogue · process · protect</a:t>
            </a:r>
          </a:p>
        </p:txBody>
      </p:sp>
      <p:sp>
        <p:nvSpPr>
          <p:cNvPr id="3" name="box-3">
            <a:extLst xmlns:a="http://schemas.openxmlformats.org/drawingml/2006/main">
              <a:ext uri="{FF2B5EF4-FFF2-40B4-BE49-F238E27FC236}">
                <a16:creationId xmlns:a16="http://schemas.microsoft.com/office/drawing/2014/main" id="{63FB1404-6920-4C58-A977-E8975CAD9ADD}"/>
              </a:ext>
            </a:extLst>
          </p:cNvPr>
          <p:cNvSpPr>
            <a:spLocks xmlns:a="http://schemas.openxmlformats.org/drawingml/2006/main" noGrp="1"/>
          </p:cNvSpPr>
          <p:nvPr/>
        </p:nvSpPr>
        <p:spPr>
          <a:xfrm xmlns:a="http://schemas.openxmlformats.org/drawingml/2006/main">
            <a:off x="381000" y="1095375"/>
            <a:ext cx="3333750" cy="2524125"/>
          </a:xfrm>
          <a:prstGeom xmlns:a="http://schemas.openxmlformats.org/drawingml/2006/main" prst="roundRect">
            <a:avLst>
              <a:gd name="adj" fmla="val 4528"/>
            </a:avLst>
          </a:prstGeom>
          <a:solidFill xmlns:a="http://schemas.openxmlformats.org/drawingml/2006/main">
            <a:srgbClr val="FFF8EB"/>
          </a:solidFill>
          <a:ln xmlns:a="http://schemas.openxmlformats.org/drawingml/2006/main" w="19050">
            <a:solidFill>
              <a:srgbClr val="D97706"/>
            </a:solidFill>
            <a:prstDash val="solid"/>
          </a:ln>
        </p:spPr>
      </p:sp>
      <p:sp>
        <p:nvSpPr>
          <p:cNvPr id="4" name="text-4">
            <a:extLst xmlns:a="http://schemas.openxmlformats.org/drawingml/2006/main">
              <a:ext uri="{FF2B5EF4-FFF2-40B4-BE49-F238E27FC236}">
                <a16:creationId xmlns:a16="http://schemas.microsoft.com/office/drawing/2014/main" id="{DB6C1E5F-3CBC-4E3C-8A9A-0A6F77CFDD8F}"/>
              </a:ext>
            </a:extLst>
          </p:cNvPr>
          <p:cNvSpPr>
            <a:spLocks xmlns:a="http://schemas.openxmlformats.org/drawingml/2006/main" noGrp="1"/>
          </p:cNvSpPr>
          <p:nvPr/>
        </p:nvSpPr>
        <p:spPr>
          <a:xfrm xmlns:a="http://schemas.openxmlformats.org/drawingml/2006/main">
            <a:off x="571500" y="125730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92400E"/>
                </a:solidFill>
                <a:latin typeface="Arial"/>
                <a:ea typeface="Arial"/>
                <a:cs typeface="Arial"/>
              </a:defRPr>
            </a:defPPr>
          </a:lstStyle>
          <a:p xmlns:a="http://schemas.openxmlformats.org/drawingml/2006/main">
            <a:pPr algn="l">
              <a:defRPr sz="2025" b="1">
                <a:solidFill>
                  <a:srgbClr val="92400E"/>
                </a:solidFill>
                <a:latin typeface="Arial"/>
                <a:ea typeface="Arial"/>
                <a:cs typeface="Arial"/>
              </a:defRPr>
            </a:pPr>
            <a:r>
              <a:rPr sz="2025" b="1">
                <a:solidFill>
                  <a:srgbClr val="92400E"/>
                </a:solidFill>
                <a:latin typeface="Arial"/>
                <a:ea typeface="Arial"/>
                <a:cs typeface="Arial"/>
              </a:rPr>
              <a:t>Microscope &amp; users</a:t>
            </a:r>
          </a:p>
        </p:txBody>
      </p:sp>
      <p:sp>
        <p:nvSpPr>
          <p:cNvPr id="5" name="box-5">
            <a:extLst xmlns:a="http://schemas.openxmlformats.org/drawingml/2006/main">
              <a:ext uri="{FF2B5EF4-FFF2-40B4-BE49-F238E27FC236}">
                <a16:creationId xmlns:a16="http://schemas.microsoft.com/office/drawing/2014/main" id="{7579B95B-958E-46F5-8B41-DBBD2B0D4A01}"/>
              </a:ext>
            </a:extLst>
          </p:cNvPr>
          <p:cNvSpPr>
            <a:spLocks xmlns:a="http://schemas.openxmlformats.org/drawingml/2006/main" noGrp="1"/>
          </p:cNvSpPr>
          <p:nvPr/>
        </p:nvSpPr>
        <p:spPr>
          <a:xfrm xmlns:a="http://schemas.openxmlformats.org/drawingml/2006/main">
            <a:off x="571500" y="1685925"/>
            <a:ext cx="2952750" cy="733425"/>
          </a:xfrm>
          <a:prstGeom xmlns:a="http://schemas.openxmlformats.org/drawingml/2006/main" prst="roundRect">
            <a:avLst>
              <a:gd name="adj" fmla="val 15584"/>
            </a:avLst>
          </a:prstGeom>
          <a:solidFill xmlns:a="http://schemas.openxmlformats.org/drawingml/2006/main">
            <a:srgbClr val="FFFFFF"/>
          </a:solidFill>
          <a:ln xmlns:a="http://schemas.openxmlformats.org/drawingml/2006/main" w="19050">
            <a:solidFill>
              <a:srgbClr val="EDD1A2"/>
            </a:solidFill>
            <a:prstDash val="solid"/>
          </a:ln>
        </p:spPr>
      </p:sp>
      <p:sp>
        <p:nvSpPr>
          <p:cNvPr id="6" name="text-6">
            <a:extLst xmlns:a="http://schemas.openxmlformats.org/drawingml/2006/main">
              <a:ext uri="{FF2B5EF4-FFF2-40B4-BE49-F238E27FC236}">
                <a16:creationId xmlns:a16="http://schemas.microsoft.com/office/drawing/2014/main" id="{8607BD4F-052A-4E8A-90E0-2ED06A4B48B0}"/>
              </a:ext>
            </a:extLst>
          </p:cNvPr>
          <p:cNvSpPr>
            <a:spLocks xmlns:a="http://schemas.openxmlformats.org/drawingml/2006/main" noGrp="1"/>
          </p:cNvSpPr>
          <p:nvPr/>
        </p:nvSpPr>
        <p:spPr>
          <a:xfrm xmlns:a="http://schemas.openxmlformats.org/drawingml/2006/main">
            <a:off x="714375" y="18002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182437"/>
                </a:solidFill>
                <a:latin typeface="Arial"/>
                <a:ea typeface="Arial"/>
                <a:cs typeface="Arial"/>
              </a:defRPr>
            </a:defPPr>
          </a:lstStyle>
          <a:p xmlns:a="http://schemas.openxmlformats.org/drawingml/2006/main">
            <a:pPr algn="l">
              <a:defRPr sz="1800" b="1">
                <a:solidFill>
                  <a:srgbClr val="182437"/>
                </a:solidFill>
                <a:latin typeface="Arial"/>
                <a:ea typeface="Arial"/>
                <a:cs typeface="Arial"/>
              </a:defRPr>
            </a:pPr>
            <a:r>
              <a:rPr sz="1800" b="1">
                <a:solidFill>
                  <a:srgbClr val="182437"/>
                </a:solidFill>
                <a:latin typeface="Arial"/>
                <a:ea typeface="Arial"/>
                <a:cs typeface="Arial"/>
              </a:rPr>
              <a:t>pymmcore-gui</a:t>
            </a:r>
          </a:p>
        </p:txBody>
      </p:sp>
      <p:sp>
        <p:nvSpPr>
          <p:cNvPr id="7" name="text-7">
            <a:extLst xmlns:a="http://schemas.openxmlformats.org/drawingml/2006/main">
              <a:ext uri="{FF2B5EF4-FFF2-40B4-BE49-F238E27FC236}">
                <a16:creationId xmlns:a16="http://schemas.microsoft.com/office/drawing/2014/main" id="{E5D32717-4A47-4766-B3FC-ACCB78A27454}"/>
              </a:ext>
            </a:extLst>
          </p:cNvPr>
          <p:cNvSpPr>
            <a:spLocks xmlns:a="http://schemas.openxmlformats.org/drawingml/2006/main" noGrp="1"/>
          </p:cNvSpPr>
          <p:nvPr/>
        </p:nvSpPr>
        <p:spPr>
          <a:xfrm xmlns:a="http://schemas.openxmlformats.org/drawingml/2006/main">
            <a:off x="714375" y="2133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182437"/>
                </a:solidFill>
                <a:latin typeface="Arial"/>
                <a:ea typeface="Arial"/>
                <a:cs typeface="Arial"/>
              </a:defRPr>
            </a:defPPr>
          </a:lstStyle>
          <a:p xmlns:a="http://schemas.openxmlformats.org/drawingml/2006/main">
            <a:pPr algn="l">
              <a:defRPr sz="1500" b="0">
                <a:solidFill>
                  <a:srgbClr val="182437"/>
                </a:solidFill>
                <a:latin typeface="Arial"/>
                <a:ea typeface="Arial"/>
                <a:cs typeface="Arial"/>
              </a:defRPr>
            </a:pPr>
            <a:r>
              <a:rPr sz="1500" b="0">
                <a:solidFill>
                  <a:srgbClr val="182437"/>
                </a:solidFill>
                <a:latin typeface="Arial"/>
                <a:ea typeface="Arial"/>
                <a:cs typeface="Arial"/>
              </a:rPr>
              <a:t>Microscope acquisition</a:t>
            </a:r>
          </a:p>
        </p:txBody>
      </p:sp>
      <p:sp>
        <p:nvSpPr>
          <p:cNvPr id="8" name="box-8">
            <a:extLst xmlns:a="http://schemas.openxmlformats.org/drawingml/2006/main">
              <a:ext uri="{FF2B5EF4-FFF2-40B4-BE49-F238E27FC236}">
                <a16:creationId xmlns:a16="http://schemas.microsoft.com/office/drawing/2014/main" id="{4AD70C32-F2CD-4E08-9E97-9B6F78853B38}"/>
              </a:ext>
            </a:extLst>
          </p:cNvPr>
          <p:cNvSpPr>
            <a:spLocks xmlns:a="http://schemas.openxmlformats.org/drawingml/2006/main" noGrp="1"/>
          </p:cNvSpPr>
          <p:nvPr/>
        </p:nvSpPr>
        <p:spPr>
          <a:xfrm xmlns:a="http://schemas.openxmlformats.org/drawingml/2006/main">
            <a:off x="571500" y="2581275"/>
            <a:ext cx="295275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9050">
            <a:solidFill>
              <a:srgbClr val="EDD1A2"/>
            </a:solidFill>
            <a:prstDash val="solid"/>
          </a:ln>
        </p:spPr>
      </p:sp>
      <p:sp>
        <p:nvSpPr>
          <p:cNvPr id="9" name="text-9">
            <a:extLst xmlns:a="http://schemas.openxmlformats.org/drawingml/2006/main">
              <a:ext uri="{FF2B5EF4-FFF2-40B4-BE49-F238E27FC236}">
                <a16:creationId xmlns:a16="http://schemas.microsoft.com/office/drawing/2014/main" id="{7261D8D1-876D-4FDB-BD9C-59F864393C7E}"/>
              </a:ext>
            </a:extLst>
          </p:cNvPr>
          <p:cNvSpPr>
            <a:spLocks xmlns:a="http://schemas.openxmlformats.org/drawingml/2006/main" noGrp="1"/>
          </p:cNvSpPr>
          <p:nvPr/>
        </p:nvSpPr>
        <p:spPr>
          <a:xfrm xmlns:a="http://schemas.openxmlformats.org/drawingml/2006/main">
            <a:off x="714375" y="26670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1">
                <a:solidFill>
                  <a:srgbClr val="182437"/>
                </a:solidFill>
                <a:latin typeface="Arial"/>
                <a:ea typeface="Arial"/>
                <a:cs typeface="Arial"/>
              </a:defRPr>
            </a:defPPr>
          </a:lstStyle>
          <a:p xmlns:a="http://schemas.openxmlformats.org/drawingml/2006/main">
            <a:pPr algn="l">
              <a:defRPr sz="1725" b="1">
                <a:solidFill>
                  <a:srgbClr val="182437"/>
                </a:solidFill>
                <a:latin typeface="Arial"/>
                <a:ea typeface="Arial"/>
                <a:cs typeface="Arial"/>
              </a:defRPr>
            </a:pPr>
            <a:r>
              <a:rPr sz="1725" b="1">
                <a:solidFill>
                  <a:srgbClr val="182437"/>
                </a:solidFill>
                <a:latin typeface="Arial"/>
                <a:ea typeface="Arial"/>
                <a:cs typeface="Arial"/>
              </a:rPr>
              <a:t>User workstation</a:t>
            </a:r>
          </a:p>
        </p:txBody>
      </p:sp>
      <p:sp>
        <p:nvSpPr>
          <p:cNvPr id="10" name="text-10">
            <a:extLst xmlns:a="http://schemas.openxmlformats.org/drawingml/2006/main">
              <a:ext uri="{FF2B5EF4-FFF2-40B4-BE49-F238E27FC236}">
                <a16:creationId xmlns:a16="http://schemas.microsoft.com/office/drawing/2014/main" id="{DCE89B1B-F9EA-44F9-BE09-ED9B62B44ED4}"/>
              </a:ext>
            </a:extLst>
          </p:cNvPr>
          <p:cNvSpPr>
            <a:spLocks xmlns:a="http://schemas.openxmlformats.org/drawingml/2006/main" noGrp="1"/>
          </p:cNvSpPr>
          <p:nvPr/>
        </p:nvSpPr>
        <p:spPr>
          <a:xfrm xmlns:a="http://schemas.openxmlformats.org/drawingml/2006/main">
            <a:off x="714375" y="2981325"/>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425" b="0">
                <a:solidFill>
                  <a:srgbClr val="182437"/>
                </a:solidFill>
                <a:latin typeface="Arial"/>
                <a:ea typeface="Arial"/>
                <a:cs typeface="Arial"/>
              </a:defRPr>
            </a:defPPr>
          </a:lstStyle>
          <a:p xmlns:a="http://schemas.openxmlformats.org/drawingml/2006/main">
            <a:pPr algn="l">
              <a:defRPr sz="1425" b="0">
                <a:solidFill>
                  <a:srgbClr val="182437"/>
                </a:solidFill>
                <a:latin typeface="Arial"/>
                <a:ea typeface="Arial"/>
                <a:cs typeface="Arial"/>
              </a:defRPr>
            </a:pPr>
            <a:r>
              <a:rPr sz="1425" b="0">
                <a:solidFill>
                  <a:srgbClr val="182437"/>
                </a:solidFill>
                <a:latin typeface="Arial"/>
                <a:ea typeface="Arial"/>
                <a:cs typeface="Arial"/>
              </a:rPr>
              <a:t>Browser + DetecDiv local</a:t>
            </a:r>
          </a:p>
          <a:p xmlns:a="http://schemas.openxmlformats.org/drawingml/2006/main">
            <a:pPr algn="l">
              <a:defRPr sz="1425" b="0">
                <a:solidFill>
                  <a:srgbClr val="182437"/>
                </a:solidFill>
                <a:latin typeface="Arial"/>
                <a:ea typeface="Arial"/>
                <a:cs typeface="Arial"/>
              </a:defRPr>
            </a:pPr>
            <a:r>
              <a:rPr sz="1425" b="0">
                <a:solidFill>
                  <a:srgbClr val="182437"/>
                </a:solidFill>
                <a:latin typeface="Arial"/>
                <a:ea typeface="Arial"/>
                <a:cs typeface="Arial"/>
              </a:rPr>
              <a:t>Optional local MATLAB runs</a:t>
            </a:r>
          </a:p>
        </p:txBody>
      </p:sp>
      <p:sp>
        <p:nvSpPr>
          <p:cNvPr id="11" name="box-11">
            <a:extLst xmlns:a="http://schemas.openxmlformats.org/drawingml/2006/main">
              <a:ext uri="{FF2B5EF4-FFF2-40B4-BE49-F238E27FC236}">
                <a16:creationId xmlns:a16="http://schemas.microsoft.com/office/drawing/2014/main" id="{FD05ABE5-F21E-4EC4-9AD5-6858D1755E48}"/>
              </a:ext>
            </a:extLst>
          </p:cNvPr>
          <p:cNvSpPr>
            <a:spLocks xmlns:a="http://schemas.openxmlformats.org/drawingml/2006/main" noGrp="1"/>
          </p:cNvSpPr>
          <p:nvPr/>
        </p:nvSpPr>
        <p:spPr>
          <a:xfrm xmlns:a="http://schemas.openxmlformats.org/drawingml/2006/main">
            <a:off x="4476750" y="1095375"/>
            <a:ext cx="6238875" cy="2524125"/>
          </a:xfrm>
          <a:prstGeom xmlns:a="http://schemas.openxmlformats.org/drawingml/2006/main" prst="roundRect">
            <a:avLst>
              <a:gd name="adj" fmla="val 4528"/>
            </a:avLst>
          </a:prstGeom>
          <a:solidFill xmlns:a="http://schemas.openxmlformats.org/drawingml/2006/main">
            <a:srgbClr val="EDF4FF"/>
          </a:solidFill>
          <a:ln xmlns:a="http://schemas.openxmlformats.org/drawingml/2006/main" w="19050">
            <a:solidFill>
              <a:srgbClr val="2563EB"/>
            </a:solidFill>
            <a:prstDash val="solid"/>
          </a:ln>
        </p:spPr>
      </p:sp>
      <p:sp>
        <p:nvSpPr>
          <p:cNvPr id="12" name="text-12">
            <a:extLst xmlns:a="http://schemas.openxmlformats.org/drawingml/2006/main">
              <a:ext uri="{FF2B5EF4-FFF2-40B4-BE49-F238E27FC236}">
                <a16:creationId xmlns:a16="http://schemas.microsoft.com/office/drawing/2014/main" id="{DDA75280-FF7C-4CEC-8F9A-6893FA3434BD}"/>
              </a:ext>
            </a:extLst>
          </p:cNvPr>
          <p:cNvSpPr>
            <a:spLocks xmlns:a="http://schemas.openxmlformats.org/drawingml/2006/main" noGrp="1"/>
          </p:cNvSpPr>
          <p:nvPr/>
        </p:nvSpPr>
        <p:spPr>
          <a:xfrm xmlns:a="http://schemas.openxmlformats.org/drawingml/2006/main">
            <a:off x="4667250" y="1257300"/>
            <a:ext cx="5857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D4ED8"/>
                </a:solidFill>
                <a:latin typeface="Arial"/>
                <a:ea typeface="Arial"/>
                <a:cs typeface="Arial"/>
              </a:defRPr>
            </a:defPPr>
          </a:lstStyle>
          <a:p xmlns:a="http://schemas.openxmlformats.org/drawingml/2006/main">
            <a:pPr algn="l">
              <a:defRPr sz="2100" b="1">
                <a:solidFill>
                  <a:srgbClr val="1D4ED8"/>
                </a:solidFill>
                <a:latin typeface="Arial"/>
                <a:ea typeface="Arial"/>
                <a:cs typeface="Arial"/>
              </a:defRPr>
            </a:pPr>
            <a:r>
              <a:rPr sz="2100" b="1">
                <a:solidFill>
                  <a:srgbClr val="1D4ED8"/>
                </a:solidFill>
                <a:latin typeface="Arial"/>
                <a:ea typeface="Arial"/>
                <a:cs typeface="Arial"/>
              </a:rPr>
              <a:t>Hub VM · webserver-labo</a:t>
            </a:r>
          </a:p>
        </p:txBody>
      </p:sp>
      <p:sp>
        <p:nvSpPr>
          <p:cNvPr id="13" name="box-13">
            <a:extLst xmlns:a="http://schemas.openxmlformats.org/drawingml/2006/main">
              <a:ext uri="{FF2B5EF4-FFF2-40B4-BE49-F238E27FC236}">
                <a16:creationId xmlns:a16="http://schemas.microsoft.com/office/drawing/2014/main" id="{DF3BC425-7AA0-4A01-8E62-F837E76E0F14}"/>
              </a:ext>
            </a:extLst>
          </p:cNvPr>
          <p:cNvSpPr>
            <a:spLocks xmlns:a="http://schemas.openxmlformats.org/drawingml/2006/main" noGrp="1"/>
          </p:cNvSpPr>
          <p:nvPr/>
        </p:nvSpPr>
        <p:spPr>
          <a:xfrm xmlns:a="http://schemas.openxmlformats.org/drawingml/2006/main">
            <a:off x="4667250" y="1685925"/>
            <a:ext cx="24765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BFD4F5"/>
            </a:solidFill>
            <a:prstDash val="solid"/>
          </a:ln>
        </p:spPr>
      </p:sp>
      <p:sp>
        <p:nvSpPr>
          <p:cNvPr id="14" name="text-14">
            <a:extLst xmlns:a="http://schemas.openxmlformats.org/drawingml/2006/main">
              <a:ext uri="{FF2B5EF4-FFF2-40B4-BE49-F238E27FC236}">
                <a16:creationId xmlns:a16="http://schemas.microsoft.com/office/drawing/2014/main" id="{6DBE4284-59F6-49B7-B901-79A3E53DEBDA}"/>
              </a:ext>
            </a:extLst>
          </p:cNvPr>
          <p:cNvSpPr>
            <a:spLocks xmlns:a="http://schemas.openxmlformats.org/drawingml/2006/main" noGrp="1"/>
          </p:cNvSpPr>
          <p:nvPr/>
        </p:nvSpPr>
        <p:spPr>
          <a:xfrm xmlns:a="http://schemas.openxmlformats.org/drawingml/2006/main">
            <a:off x="4829175" y="1819275"/>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182437"/>
                </a:solidFill>
                <a:latin typeface="Arial"/>
                <a:ea typeface="Arial"/>
                <a:cs typeface="Arial"/>
              </a:defRPr>
            </a:defPPr>
          </a:lstStyle>
          <a:p xmlns:a="http://schemas.openxmlformats.org/drawingml/2006/main">
            <a:pPr algn="l">
              <a:defRPr sz="1875" b="1">
                <a:solidFill>
                  <a:srgbClr val="182437"/>
                </a:solidFill>
                <a:latin typeface="Arial"/>
                <a:ea typeface="Arial"/>
                <a:cs typeface="Arial"/>
              </a:defRPr>
            </a:pPr>
            <a:r>
              <a:rPr sz="1875" b="1">
                <a:solidFill>
                  <a:srgbClr val="182437"/>
                </a:solidFill>
                <a:latin typeface="Arial"/>
                <a:ea typeface="Arial"/>
                <a:cs typeface="Arial"/>
              </a:rPr>
              <a:t>Web UI + API</a:t>
            </a:r>
          </a:p>
        </p:txBody>
      </p:sp>
      <p:sp>
        <p:nvSpPr>
          <p:cNvPr id="15" name="text-15">
            <a:extLst xmlns:a="http://schemas.openxmlformats.org/drawingml/2006/main">
              <a:ext uri="{FF2B5EF4-FFF2-40B4-BE49-F238E27FC236}">
                <a16:creationId xmlns:a16="http://schemas.microsoft.com/office/drawing/2014/main" id="{FAFC26E6-C01C-49E5-AED5-35A576DF216C}"/>
              </a:ext>
            </a:extLst>
          </p:cNvPr>
          <p:cNvSpPr>
            <a:spLocks xmlns:a="http://schemas.openxmlformats.org/drawingml/2006/main" noGrp="1"/>
          </p:cNvSpPr>
          <p:nvPr/>
        </p:nvSpPr>
        <p:spPr>
          <a:xfrm xmlns:a="http://schemas.openxmlformats.org/drawingml/2006/main">
            <a:off x="4829175" y="226695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182437"/>
                </a:solidFill>
                <a:latin typeface="Arial"/>
                <a:ea typeface="Arial"/>
                <a:cs typeface="Arial"/>
              </a:defRPr>
            </a:defPPr>
          </a:lstStyle>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User access</a:t>
            </a:r>
          </a:p>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Dataset browser</a:t>
            </a:r>
          </a:p>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Job / assistant API</a:t>
            </a:r>
          </a:p>
        </p:txBody>
      </p:sp>
      <p:sp>
        <p:nvSpPr>
          <p:cNvPr id="16" name="box-16">
            <a:extLst xmlns:a="http://schemas.openxmlformats.org/drawingml/2006/main">
              <a:ext uri="{FF2B5EF4-FFF2-40B4-BE49-F238E27FC236}">
                <a16:creationId xmlns:a16="http://schemas.microsoft.com/office/drawing/2014/main" id="{46204F16-C8AE-46FF-8325-EA8A84F9FC4D}"/>
              </a:ext>
            </a:extLst>
          </p:cNvPr>
          <p:cNvSpPr>
            <a:spLocks xmlns:a="http://schemas.openxmlformats.org/drawingml/2006/main" noGrp="1"/>
          </p:cNvSpPr>
          <p:nvPr/>
        </p:nvSpPr>
        <p:spPr>
          <a:xfrm xmlns:a="http://schemas.openxmlformats.org/drawingml/2006/main">
            <a:off x="7334250" y="1685925"/>
            <a:ext cx="3190875"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BFD4F5"/>
            </a:solidFill>
            <a:prstDash val="solid"/>
          </a:ln>
        </p:spPr>
      </p:sp>
      <p:sp>
        <p:nvSpPr>
          <p:cNvPr id="17" name="text-17">
            <a:extLst xmlns:a="http://schemas.openxmlformats.org/drawingml/2006/main">
              <a:ext uri="{FF2B5EF4-FFF2-40B4-BE49-F238E27FC236}">
                <a16:creationId xmlns:a16="http://schemas.microsoft.com/office/drawing/2014/main" id="{7597A711-0698-4E46-A11D-F84292F7C280}"/>
              </a:ext>
            </a:extLst>
          </p:cNvPr>
          <p:cNvSpPr>
            <a:spLocks xmlns:a="http://schemas.openxmlformats.org/drawingml/2006/main" noGrp="1"/>
          </p:cNvSpPr>
          <p:nvPr/>
        </p:nvSpPr>
        <p:spPr>
          <a:xfrm xmlns:a="http://schemas.openxmlformats.org/drawingml/2006/main">
            <a:off x="7524750" y="181927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182437"/>
                </a:solidFill>
                <a:latin typeface="Arial"/>
                <a:ea typeface="Arial"/>
                <a:cs typeface="Arial"/>
              </a:defRPr>
            </a:defPPr>
          </a:lstStyle>
          <a:p xmlns:a="http://schemas.openxmlformats.org/drawingml/2006/main">
            <a:pPr algn="l">
              <a:defRPr sz="1875" b="1">
                <a:solidFill>
                  <a:srgbClr val="182437"/>
                </a:solidFill>
                <a:latin typeface="Arial"/>
                <a:ea typeface="Arial"/>
                <a:cs typeface="Arial"/>
              </a:defRPr>
            </a:pPr>
            <a:r>
              <a:rPr sz="1875" b="1">
                <a:solidFill>
                  <a:srgbClr val="182437"/>
                </a:solidFill>
                <a:latin typeface="Arial"/>
                <a:ea typeface="Arial"/>
                <a:cs typeface="Arial"/>
              </a:rPr>
              <a:t>PostgreSQL</a:t>
            </a:r>
          </a:p>
        </p:txBody>
      </p:sp>
      <p:sp>
        <p:nvSpPr>
          <p:cNvPr id="18" name="text-18">
            <a:extLst xmlns:a="http://schemas.openxmlformats.org/drawingml/2006/main">
              <a:ext uri="{FF2B5EF4-FFF2-40B4-BE49-F238E27FC236}">
                <a16:creationId xmlns:a16="http://schemas.microsoft.com/office/drawing/2014/main" id="{2A31D3B3-8A22-4D3D-AD93-AE98AB6B9B2C}"/>
              </a:ext>
            </a:extLst>
          </p:cNvPr>
          <p:cNvSpPr>
            <a:spLocks xmlns:a="http://schemas.openxmlformats.org/drawingml/2006/main" noGrp="1"/>
          </p:cNvSpPr>
          <p:nvPr/>
        </p:nvSpPr>
        <p:spPr>
          <a:xfrm xmlns:a="http://schemas.openxmlformats.org/drawingml/2006/main">
            <a:off x="7524750" y="2266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182437"/>
                </a:solidFill>
                <a:latin typeface="Arial"/>
                <a:ea typeface="Arial"/>
                <a:cs typeface="Arial"/>
              </a:defRPr>
            </a:defPPr>
          </a:lstStyle>
          <a:p xmlns:a="http://schemas.openxmlformats.org/drawingml/2006/main">
            <a:pPr algn="l">
              <a:defRPr sz="1575" b="0">
                <a:solidFill>
                  <a:srgbClr val="182437"/>
                </a:solidFill>
                <a:latin typeface="Arial"/>
                <a:ea typeface="Arial"/>
                <a:cs typeface="Arial"/>
              </a:defRPr>
            </a:pPr>
            <a:r>
              <a:rPr sz="1575" b="0">
                <a:solidFill>
                  <a:srgbClr val="182437"/>
                </a:solidFill>
                <a:latin typeface="Arial"/>
                <a:ea typeface="Arial"/>
                <a:cs typeface="Arial"/>
              </a:rPr>
              <a:t>Dataset / project catalogue</a:t>
            </a:r>
          </a:p>
          <a:p xmlns:a="http://schemas.openxmlformats.org/drawingml/2006/main">
            <a:pPr algn="l">
              <a:defRPr sz="1575" b="0">
                <a:solidFill>
                  <a:srgbClr val="182437"/>
                </a:solidFill>
                <a:latin typeface="Arial"/>
                <a:ea typeface="Arial"/>
                <a:cs typeface="Arial"/>
              </a:defRPr>
            </a:pPr>
            <a:r>
              <a:rPr sz="1575" b="0">
                <a:solidFill>
                  <a:srgbClr val="182437"/>
                </a:solidFill>
                <a:latin typeface="Arial"/>
                <a:ea typeface="Arial"/>
                <a:cs typeface="Arial"/>
              </a:rPr>
              <a:t>Job queue &amp; execution state</a:t>
            </a:r>
          </a:p>
          <a:p xmlns:a="http://schemas.openxmlformats.org/drawingml/2006/main">
            <a:pPr algn="l">
              <a:defRPr sz="1575" b="0">
                <a:solidFill>
                  <a:srgbClr val="182437"/>
                </a:solidFill>
                <a:latin typeface="Arial"/>
                <a:ea typeface="Arial"/>
                <a:cs typeface="Arial"/>
              </a:defRPr>
            </a:pPr>
            <a:r>
              <a:rPr sz="1575" b="0">
                <a:solidFill>
                  <a:srgbClr val="182437"/>
                </a:solidFill>
                <a:latin typeface="Arial"/>
                <a:ea typeface="Arial"/>
                <a:cs typeface="Arial"/>
              </a:rPr>
              <a:t>Labguru links + code commits</a:t>
            </a:r>
          </a:p>
        </p:txBody>
      </p:sp>
      <p:sp>
        <p:nvSpPr>
          <p:cNvPr id="19" name="box-19">
            <a:extLst xmlns:a="http://schemas.openxmlformats.org/drawingml/2006/main">
              <a:ext uri="{FF2B5EF4-FFF2-40B4-BE49-F238E27FC236}">
                <a16:creationId xmlns:a16="http://schemas.microsoft.com/office/drawing/2014/main" id="{D0DC8DFE-803E-46B7-A3DE-0409021ED5B7}"/>
              </a:ext>
            </a:extLst>
          </p:cNvPr>
          <p:cNvSpPr>
            <a:spLocks xmlns:a="http://schemas.openxmlformats.org/drawingml/2006/main" noGrp="1"/>
          </p:cNvSpPr>
          <p:nvPr/>
        </p:nvSpPr>
        <p:spPr>
          <a:xfrm xmlns:a="http://schemas.openxmlformats.org/drawingml/2006/main">
            <a:off x="11477625" y="1095375"/>
            <a:ext cx="3381375" cy="2524125"/>
          </a:xfrm>
          <a:prstGeom xmlns:a="http://schemas.openxmlformats.org/drawingml/2006/main" prst="roundRect">
            <a:avLst>
              <a:gd name="adj" fmla="val 4528"/>
            </a:avLst>
          </a:prstGeom>
          <a:solidFill xmlns:a="http://schemas.openxmlformats.org/drawingml/2006/main">
            <a:srgbClr val="FFFAE8"/>
          </a:solidFill>
          <a:ln xmlns:a="http://schemas.openxmlformats.org/drawingml/2006/main" w="19050">
            <a:solidFill>
              <a:srgbClr val="B77909"/>
            </a:solidFill>
            <a:prstDash val="solid"/>
          </a:ln>
        </p:spPr>
      </p:sp>
      <p:sp>
        <p:nvSpPr>
          <p:cNvPr id="20" name="text-20">
            <a:extLst xmlns:a="http://schemas.openxmlformats.org/drawingml/2006/main">
              <a:ext uri="{FF2B5EF4-FFF2-40B4-BE49-F238E27FC236}">
                <a16:creationId xmlns:a16="http://schemas.microsoft.com/office/drawing/2014/main" id="{6ECC5B20-60F8-473A-9551-7EEFC14DEE5F}"/>
              </a:ext>
            </a:extLst>
          </p:cNvPr>
          <p:cNvSpPr>
            <a:spLocks xmlns:a="http://schemas.openxmlformats.org/drawingml/2006/main" noGrp="1"/>
          </p:cNvSpPr>
          <p:nvPr/>
        </p:nvSpPr>
        <p:spPr>
          <a:xfrm xmlns:a="http://schemas.openxmlformats.org/drawingml/2006/main">
            <a:off x="11668125" y="1257300"/>
            <a:ext cx="300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85590B"/>
                </a:solidFill>
                <a:latin typeface="Arial"/>
                <a:ea typeface="Arial"/>
                <a:cs typeface="Arial"/>
              </a:defRPr>
            </a:defPPr>
          </a:lstStyle>
          <a:p xmlns:a="http://schemas.openxmlformats.org/drawingml/2006/main">
            <a:pPr algn="l">
              <a:defRPr sz="2025" b="1">
                <a:solidFill>
                  <a:srgbClr val="85590B"/>
                </a:solidFill>
                <a:latin typeface="Arial"/>
                <a:ea typeface="Arial"/>
                <a:cs typeface="Arial"/>
              </a:defRPr>
            </a:pPr>
            <a:r>
              <a:rPr sz="2025" b="1">
                <a:solidFill>
                  <a:srgbClr val="85590B"/>
                </a:solidFill>
                <a:latin typeface="Arial"/>
                <a:ea typeface="Arial"/>
                <a:cs typeface="Arial"/>
              </a:rPr>
              <a:t>Connected systems</a:t>
            </a:r>
          </a:p>
        </p:txBody>
      </p:sp>
      <p:sp>
        <p:nvSpPr>
          <p:cNvPr id="21" name="box-21">
            <a:extLst xmlns:a="http://schemas.openxmlformats.org/drawingml/2006/main">
              <a:ext uri="{FF2B5EF4-FFF2-40B4-BE49-F238E27FC236}">
                <a16:creationId xmlns:a16="http://schemas.microsoft.com/office/drawing/2014/main" id="{78E09355-0EAD-4A2A-99AC-B2A1EE73D774}"/>
              </a:ext>
            </a:extLst>
          </p:cNvPr>
          <p:cNvSpPr>
            <a:spLocks xmlns:a="http://schemas.openxmlformats.org/drawingml/2006/main" noGrp="1"/>
          </p:cNvSpPr>
          <p:nvPr/>
        </p:nvSpPr>
        <p:spPr>
          <a:xfrm xmlns:a="http://schemas.openxmlformats.org/drawingml/2006/main">
            <a:off x="11668125" y="1685925"/>
            <a:ext cx="300037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E4D39C"/>
            </a:solidFill>
            <a:prstDash val="solid"/>
          </a:ln>
        </p:spPr>
      </p:sp>
      <p:sp>
        <p:nvSpPr>
          <p:cNvPr id="22" name="text-22">
            <a:extLst xmlns:a="http://schemas.openxmlformats.org/drawingml/2006/main">
              <a:ext uri="{FF2B5EF4-FFF2-40B4-BE49-F238E27FC236}">
                <a16:creationId xmlns:a16="http://schemas.microsoft.com/office/drawing/2014/main" id="{2AA4A6AD-B07A-4DC3-81B0-6090C32B8206}"/>
              </a:ext>
            </a:extLst>
          </p:cNvPr>
          <p:cNvSpPr>
            <a:spLocks xmlns:a="http://schemas.openxmlformats.org/drawingml/2006/main" noGrp="1"/>
          </p:cNvSpPr>
          <p:nvPr/>
        </p:nvSpPr>
        <p:spPr>
          <a:xfrm xmlns:a="http://schemas.openxmlformats.org/drawingml/2006/main">
            <a:off x="11811000" y="17811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182437"/>
                </a:solidFill>
                <a:latin typeface="Arial"/>
                <a:ea typeface="Arial"/>
                <a:cs typeface="Arial"/>
              </a:defRPr>
            </a:defPPr>
          </a:lstStyle>
          <a:p xmlns:a="http://schemas.openxmlformats.org/drawingml/2006/main">
            <a:pPr algn="l">
              <a:defRPr sz="1800" b="1">
                <a:solidFill>
                  <a:srgbClr val="182437"/>
                </a:solidFill>
                <a:latin typeface="Arial"/>
                <a:ea typeface="Arial"/>
                <a:cs typeface="Arial"/>
              </a:defRPr>
            </a:pPr>
            <a:r>
              <a:rPr sz="1800" b="1">
                <a:solidFill>
                  <a:srgbClr val="182437"/>
                </a:solidFill>
                <a:latin typeface="Arial"/>
                <a:ea typeface="Arial"/>
                <a:cs typeface="Arial"/>
              </a:rPr>
              <a:t>Labguru</a:t>
            </a:r>
          </a:p>
        </p:txBody>
      </p:sp>
      <p:sp>
        <p:nvSpPr>
          <p:cNvPr id="23" name="text-23">
            <a:extLst xmlns:a="http://schemas.openxmlformats.org/drawingml/2006/main">
              <a:ext uri="{FF2B5EF4-FFF2-40B4-BE49-F238E27FC236}">
                <a16:creationId xmlns:a16="http://schemas.microsoft.com/office/drawing/2014/main" id="{4565E644-6E57-4FDE-8A19-F5496A0507EF}"/>
              </a:ext>
            </a:extLst>
          </p:cNvPr>
          <p:cNvSpPr>
            <a:spLocks xmlns:a="http://schemas.openxmlformats.org/drawingml/2006/main" noGrp="1"/>
          </p:cNvSpPr>
          <p:nvPr/>
        </p:nvSpPr>
        <p:spPr>
          <a:xfrm xmlns:a="http://schemas.openxmlformats.org/drawingml/2006/main">
            <a:off x="11811000" y="21336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182437"/>
                </a:solidFill>
                <a:latin typeface="Arial"/>
                <a:ea typeface="Arial"/>
                <a:cs typeface="Arial"/>
              </a:defRPr>
            </a:defPPr>
          </a:lstStyle>
          <a:p xmlns:a="http://schemas.openxmlformats.org/drawingml/2006/main">
            <a:pPr algn="l">
              <a:defRPr sz="1500" b="0">
                <a:solidFill>
                  <a:srgbClr val="182437"/>
                </a:solidFill>
                <a:latin typeface="Arial"/>
                <a:ea typeface="Arial"/>
                <a:cs typeface="Arial"/>
              </a:defRPr>
            </a:pPr>
            <a:r>
              <a:rPr sz="1500" b="0">
                <a:solidFill>
                  <a:srgbClr val="182437"/>
                </a:solidFill>
                <a:latin typeface="Arial"/>
                <a:ea typeface="Arial"/>
                <a:cs typeface="Arial"/>
              </a:rPr>
              <a:t>Experiments · strains · stocks</a:t>
            </a:r>
          </a:p>
        </p:txBody>
      </p:sp>
      <p:sp>
        <p:nvSpPr>
          <p:cNvPr id="24" name="box-24">
            <a:extLst xmlns:a="http://schemas.openxmlformats.org/drawingml/2006/main">
              <a:ext uri="{FF2B5EF4-FFF2-40B4-BE49-F238E27FC236}">
                <a16:creationId xmlns:a16="http://schemas.microsoft.com/office/drawing/2014/main" id="{779E4F10-6CD5-42FD-ADA1-1BDFC6853E1B}"/>
              </a:ext>
            </a:extLst>
          </p:cNvPr>
          <p:cNvSpPr>
            <a:spLocks xmlns:a="http://schemas.openxmlformats.org/drawingml/2006/main" noGrp="1"/>
          </p:cNvSpPr>
          <p:nvPr/>
        </p:nvSpPr>
        <p:spPr>
          <a:xfrm xmlns:a="http://schemas.openxmlformats.org/drawingml/2006/main">
            <a:off x="11668125" y="2619375"/>
            <a:ext cx="30003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9050">
            <a:solidFill>
              <a:srgbClr val="E4D39C"/>
            </a:solidFill>
            <a:prstDash val="solid"/>
          </a:ln>
        </p:spPr>
      </p:sp>
      <p:sp>
        <p:nvSpPr>
          <p:cNvPr id="25" name="text-25">
            <a:extLst xmlns:a="http://schemas.openxmlformats.org/drawingml/2006/main">
              <a:ext uri="{FF2B5EF4-FFF2-40B4-BE49-F238E27FC236}">
                <a16:creationId xmlns:a16="http://schemas.microsoft.com/office/drawing/2014/main" id="{E699B91C-8A7E-4012-A0DF-9D81895BA952}"/>
              </a:ext>
            </a:extLst>
          </p:cNvPr>
          <p:cNvSpPr>
            <a:spLocks xmlns:a="http://schemas.openxmlformats.org/drawingml/2006/main" noGrp="1"/>
          </p:cNvSpPr>
          <p:nvPr/>
        </p:nvSpPr>
        <p:spPr>
          <a:xfrm xmlns:a="http://schemas.openxmlformats.org/drawingml/2006/main">
            <a:off x="11811000" y="27146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182437"/>
                </a:solidFill>
                <a:latin typeface="Arial"/>
                <a:ea typeface="Arial"/>
                <a:cs typeface="Arial"/>
              </a:defRPr>
            </a:defPPr>
          </a:lstStyle>
          <a:p xmlns:a="http://schemas.openxmlformats.org/drawingml/2006/main">
            <a:pPr algn="l">
              <a:defRPr sz="1800" b="1">
                <a:solidFill>
                  <a:srgbClr val="182437"/>
                </a:solidFill>
                <a:latin typeface="Arial"/>
                <a:ea typeface="Arial"/>
                <a:cs typeface="Arial"/>
              </a:defRPr>
            </a:pPr>
            <a:r>
              <a:rPr sz="1800" b="1">
                <a:solidFill>
                  <a:srgbClr val="182437"/>
                </a:solidFill>
                <a:latin typeface="Arial"/>
                <a:ea typeface="Arial"/>
                <a:cs typeface="Arial"/>
              </a:rPr>
              <a:t>GitLab</a:t>
            </a:r>
          </a:p>
        </p:txBody>
      </p:sp>
      <p:sp>
        <p:nvSpPr>
          <p:cNvPr id="26" name="text-26">
            <a:extLst xmlns:a="http://schemas.openxmlformats.org/drawingml/2006/main">
              <a:ext uri="{FF2B5EF4-FFF2-40B4-BE49-F238E27FC236}">
                <a16:creationId xmlns:a16="http://schemas.microsoft.com/office/drawing/2014/main" id="{61AFE15C-3741-47F4-92D2-765FA4B81ABD}"/>
              </a:ext>
            </a:extLst>
          </p:cNvPr>
          <p:cNvSpPr>
            <a:spLocks xmlns:a="http://schemas.openxmlformats.org/drawingml/2006/main" noGrp="1"/>
          </p:cNvSpPr>
          <p:nvPr/>
        </p:nvSpPr>
        <p:spPr>
          <a:xfrm xmlns:a="http://schemas.openxmlformats.org/drawingml/2006/main">
            <a:off x="11811000" y="3057525"/>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182437"/>
                </a:solidFill>
                <a:latin typeface="Arial"/>
                <a:ea typeface="Arial"/>
                <a:cs typeface="Arial"/>
              </a:defRPr>
            </a:defPPr>
          </a:lstStyle>
          <a:p xmlns:a="http://schemas.openxmlformats.org/drawingml/2006/main">
            <a:pPr algn="l">
              <a:defRPr sz="1500" b="0">
                <a:solidFill>
                  <a:srgbClr val="182437"/>
                </a:solidFill>
                <a:latin typeface="Arial"/>
                <a:ea typeface="Arial"/>
                <a:cs typeface="Arial"/>
              </a:defRPr>
            </a:pPr>
            <a:r>
              <a:rPr sz="1500" b="0">
                <a:solidFill>
                  <a:srgbClr val="182437"/>
                </a:solidFill>
                <a:latin typeface="Arial"/>
                <a:ea typeface="Arial"/>
                <a:cs typeface="Arial"/>
              </a:rPr>
              <a:t>Versioned code + releases</a:t>
            </a:r>
          </a:p>
        </p:txBody>
      </p:sp>
      <p:sp>
        <p:nvSpPr>
          <p:cNvPr id="27" name="box-27">
            <a:extLst xmlns:a="http://schemas.openxmlformats.org/drawingml/2006/main">
              <a:ext uri="{FF2B5EF4-FFF2-40B4-BE49-F238E27FC236}">
                <a16:creationId xmlns:a16="http://schemas.microsoft.com/office/drawing/2014/main" id="{72E21C42-9617-47CE-B727-CCC4BDFCCD2E}"/>
              </a:ext>
            </a:extLst>
          </p:cNvPr>
          <p:cNvSpPr>
            <a:spLocks xmlns:a="http://schemas.openxmlformats.org/drawingml/2006/main" noGrp="1"/>
          </p:cNvSpPr>
          <p:nvPr/>
        </p:nvSpPr>
        <p:spPr>
          <a:xfrm xmlns:a="http://schemas.openxmlformats.org/drawingml/2006/main">
            <a:off x="381000" y="4333875"/>
            <a:ext cx="5429250" cy="3238500"/>
          </a:xfrm>
          <a:prstGeom xmlns:a="http://schemas.openxmlformats.org/drawingml/2006/main" prst="roundRect">
            <a:avLst>
              <a:gd name="adj" fmla="val 3529"/>
            </a:avLst>
          </a:prstGeom>
          <a:solidFill xmlns:a="http://schemas.openxmlformats.org/drawingml/2006/main">
            <a:srgbClr val="F1FAF3"/>
          </a:solidFill>
          <a:ln xmlns:a="http://schemas.openxmlformats.org/drawingml/2006/main" w="19050">
            <a:solidFill>
              <a:srgbClr val="16A34A"/>
            </a:solidFill>
            <a:prstDash val="solid"/>
          </a:ln>
        </p:spPr>
      </p:sp>
      <p:sp>
        <p:nvSpPr>
          <p:cNvPr id="28" name="text-28">
            <a:extLst xmlns:a="http://schemas.openxmlformats.org/drawingml/2006/main">
              <a:ext uri="{FF2B5EF4-FFF2-40B4-BE49-F238E27FC236}">
                <a16:creationId xmlns:a16="http://schemas.microsoft.com/office/drawing/2014/main" id="{67256075-3EFA-484B-ABCE-5BFD69994B40}"/>
              </a:ext>
            </a:extLst>
          </p:cNvPr>
          <p:cNvSpPr>
            <a:spLocks xmlns:a="http://schemas.openxmlformats.org/drawingml/2006/main" noGrp="1"/>
          </p:cNvSpPr>
          <p:nvPr/>
        </p:nvSpPr>
        <p:spPr>
          <a:xfrm xmlns:a="http://schemas.openxmlformats.org/drawingml/2006/main">
            <a:off x="571500" y="45148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26A32"/>
                </a:solidFill>
                <a:latin typeface="Arial"/>
                <a:ea typeface="Arial"/>
                <a:cs typeface="Arial"/>
              </a:defRPr>
            </a:defPPr>
          </a:lstStyle>
          <a:p xmlns:a="http://schemas.openxmlformats.org/drawingml/2006/main">
            <a:pPr algn="l">
              <a:defRPr sz="2100" b="1">
                <a:solidFill>
                  <a:srgbClr val="126A32"/>
                </a:solidFill>
                <a:latin typeface="Arial"/>
                <a:ea typeface="Arial"/>
                <a:cs typeface="Arial"/>
              </a:defRPr>
            </a:pPr>
            <a:r>
              <a:rPr sz="2100" b="1">
                <a:solidFill>
                  <a:srgbClr val="126A32"/>
                </a:solidFill>
                <a:latin typeface="Arial"/>
                <a:ea typeface="Arial"/>
                <a:cs typeface="Arial"/>
              </a:rPr>
              <a:t>Shared storage · Synology NAS</a:t>
            </a:r>
          </a:p>
        </p:txBody>
      </p:sp>
      <p:sp>
        <p:nvSpPr>
          <p:cNvPr id="29" name="box-29">
            <a:extLst xmlns:a="http://schemas.openxmlformats.org/drawingml/2006/main">
              <a:ext uri="{FF2B5EF4-FFF2-40B4-BE49-F238E27FC236}">
                <a16:creationId xmlns:a16="http://schemas.microsoft.com/office/drawing/2014/main" id="{F9FF9DCB-EAB2-4DFA-849F-E5AFCD7CC3B3}"/>
              </a:ext>
            </a:extLst>
          </p:cNvPr>
          <p:cNvSpPr>
            <a:spLocks xmlns:a="http://schemas.openxmlformats.org/drawingml/2006/main" noGrp="1"/>
          </p:cNvSpPr>
          <p:nvPr/>
        </p:nvSpPr>
        <p:spPr>
          <a:xfrm xmlns:a="http://schemas.openxmlformats.org/drawingml/2006/main">
            <a:off x="571500" y="4972050"/>
            <a:ext cx="5048250" cy="1057275"/>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B9DCC3"/>
            </a:solidFill>
            <a:prstDash val="solid"/>
          </a:ln>
        </p:spPr>
      </p:sp>
      <p:sp>
        <p:nvSpPr>
          <p:cNvPr id="30" name="text-30">
            <a:extLst xmlns:a="http://schemas.openxmlformats.org/drawingml/2006/main">
              <a:ext uri="{FF2B5EF4-FFF2-40B4-BE49-F238E27FC236}">
                <a16:creationId xmlns:a16="http://schemas.microsoft.com/office/drawing/2014/main" id="{F7C558E2-9F70-4EC3-85EE-1AE9F4DA78A6}"/>
              </a:ext>
            </a:extLst>
          </p:cNvPr>
          <p:cNvSpPr>
            <a:spLocks xmlns:a="http://schemas.openxmlformats.org/drawingml/2006/main" noGrp="1"/>
          </p:cNvSpPr>
          <p:nvPr/>
        </p:nvSpPr>
        <p:spPr>
          <a:xfrm xmlns:a="http://schemas.openxmlformats.org/drawingml/2006/main">
            <a:off x="742950" y="5086350"/>
            <a:ext cx="469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182437"/>
                </a:solidFill>
                <a:latin typeface="Arial"/>
                <a:ea typeface="Arial"/>
                <a:cs typeface="Arial"/>
              </a:defRPr>
            </a:defPPr>
          </a:lstStyle>
          <a:p xmlns:a="http://schemas.openxmlformats.org/drawingml/2006/main">
            <a:pPr algn="l">
              <a:defRPr sz="1875" b="1">
                <a:solidFill>
                  <a:srgbClr val="182437"/>
                </a:solidFill>
                <a:latin typeface="Arial"/>
                <a:ea typeface="Arial"/>
                <a:cs typeface="Arial"/>
              </a:defRPr>
            </a:pPr>
            <a:r>
              <a:rPr sz="1875" b="1">
                <a:solidFill>
                  <a:srgbClr val="182437"/>
                </a:solidFill>
                <a:latin typeface="Arial"/>
                <a:ea typeface="Arial"/>
                <a:cs typeface="Arial"/>
              </a:rPr>
              <a:t>Primary NAS · 10.20.11.250</a:t>
            </a:r>
          </a:p>
        </p:txBody>
      </p:sp>
      <p:sp>
        <p:nvSpPr>
          <p:cNvPr id="31" name="text-31">
            <a:extLst xmlns:a="http://schemas.openxmlformats.org/drawingml/2006/main">
              <a:ext uri="{FF2B5EF4-FFF2-40B4-BE49-F238E27FC236}">
                <a16:creationId xmlns:a16="http://schemas.microsoft.com/office/drawing/2014/main" id="{D06B200B-4A62-451A-A5A2-B3C205CF62DD}"/>
              </a:ext>
            </a:extLst>
          </p:cNvPr>
          <p:cNvSpPr>
            <a:spLocks xmlns:a="http://schemas.openxmlformats.org/drawingml/2006/main" noGrp="1"/>
          </p:cNvSpPr>
          <p:nvPr/>
        </p:nvSpPr>
        <p:spPr>
          <a:xfrm xmlns:a="http://schemas.openxmlformats.org/drawingml/2006/main">
            <a:off x="742950" y="5457825"/>
            <a:ext cx="4695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182437"/>
                </a:solidFill>
                <a:latin typeface="Arial"/>
                <a:ea typeface="Arial"/>
                <a:cs typeface="Arial"/>
              </a:defRPr>
            </a:defPPr>
          </a:lstStyle>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/data — existing projects + raw data</a:t>
            </a:r>
          </a:p>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/homes — user homes + Hub folders</a:t>
            </a:r>
          </a:p>
        </p:txBody>
      </p:sp>
      <p:sp>
        <p:nvSpPr>
          <p:cNvPr id="32" name="box-32">
            <a:extLst xmlns:a="http://schemas.openxmlformats.org/drawingml/2006/main">
              <a:ext uri="{FF2B5EF4-FFF2-40B4-BE49-F238E27FC236}">
                <a16:creationId xmlns:a16="http://schemas.microsoft.com/office/drawing/2014/main" id="{F0240CB2-F1C8-445B-856B-C733A6C0317C}"/>
              </a:ext>
            </a:extLst>
          </p:cNvPr>
          <p:cNvSpPr>
            <a:spLocks xmlns:a="http://schemas.openxmlformats.org/drawingml/2006/main" noGrp="1"/>
          </p:cNvSpPr>
          <p:nvPr/>
        </p:nvSpPr>
        <p:spPr>
          <a:xfrm xmlns:a="http://schemas.openxmlformats.org/drawingml/2006/main">
            <a:off x="571500" y="6210300"/>
            <a:ext cx="5048250" cy="1152525"/>
          </a:xfrm>
          <a:prstGeom xmlns:a="http://schemas.openxmlformats.org/drawingml/2006/main" prst="roundRect">
            <a:avLst>
              <a:gd name="adj" fmla="val 9917"/>
            </a:avLst>
          </a:prstGeom>
          <a:solidFill xmlns:a="http://schemas.openxmlformats.org/drawingml/2006/main">
            <a:srgbClr val="FFFFFF"/>
          </a:solidFill>
          <a:ln xmlns:a="http://schemas.openxmlformats.org/drawingml/2006/main" w="19050">
            <a:solidFill>
              <a:srgbClr val="B9DCC3"/>
            </a:solidFill>
            <a:prstDash val="solid"/>
          </a:ln>
        </p:spPr>
      </p:sp>
      <p:sp>
        <p:nvSpPr>
          <p:cNvPr id="33" name="text-33">
            <a:extLst xmlns:a="http://schemas.openxmlformats.org/drawingml/2006/main">
              <a:ext uri="{FF2B5EF4-FFF2-40B4-BE49-F238E27FC236}">
                <a16:creationId xmlns:a16="http://schemas.microsoft.com/office/drawing/2014/main" id="{218468B4-099F-44FB-ADA8-2E74F4FAAB94}"/>
              </a:ext>
            </a:extLst>
          </p:cNvPr>
          <p:cNvSpPr>
            <a:spLocks xmlns:a="http://schemas.openxmlformats.org/drawingml/2006/main" noGrp="1"/>
          </p:cNvSpPr>
          <p:nvPr/>
        </p:nvSpPr>
        <p:spPr>
          <a:xfrm xmlns:a="http://schemas.openxmlformats.org/drawingml/2006/main">
            <a:off x="742950" y="6324600"/>
            <a:ext cx="4695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182437"/>
                </a:solidFill>
                <a:latin typeface="Arial"/>
                <a:ea typeface="Arial"/>
                <a:cs typeface="Arial"/>
              </a:defRPr>
            </a:defPPr>
          </a:lstStyle>
          <a:p xmlns:a="http://schemas.openxmlformats.org/drawingml/2006/main">
            <a:pPr algn="l">
              <a:defRPr sz="1875" b="1">
                <a:solidFill>
                  <a:srgbClr val="182437"/>
                </a:solidFill>
                <a:latin typeface="Arial"/>
                <a:ea typeface="Arial"/>
                <a:cs typeface="Arial"/>
              </a:defRPr>
            </a:pPr>
            <a:r>
              <a:rPr sz="1875" b="1">
                <a:solidFill>
                  <a:srgbClr val="182437"/>
                </a:solidFill>
                <a:latin typeface="Arial"/>
                <a:ea typeface="Arial"/>
                <a:cs typeface="Arial"/>
              </a:rPr>
              <a:t>Secondary NAS · 10.20.8.250</a:t>
            </a:r>
          </a:p>
        </p:txBody>
      </p:sp>
      <p:sp>
        <p:nvSpPr>
          <p:cNvPr id="34" name="text-34">
            <a:extLst xmlns:a="http://schemas.openxmlformats.org/drawingml/2006/main">
              <a:ext uri="{FF2B5EF4-FFF2-40B4-BE49-F238E27FC236}">
                <a16:creationId xmlns:a16="http://schemas.microsoft.com/office/drawing/2014/main" id="{5B3363E5-99F3-4EC4-941D-3B5EC5AF8174}"/>
              </a:ext>
            </a:extLst>
          </p:cNvPr>
          <p:cNvSpPr>
            <a:spLocks xmlns:a="http://schemas.openxmlformats.org/drawingml/2006/main" noGrp="1"/>
          </p:cNvSpPr>
          <p:nvPr/>
        </p:nvSpPr>
        <p:spPr>
          <a:xfrm xmlns:a="http://schemas.openxmlformats.org/drawingml/2006/main">
            <a:off x="742950" y="6705600"/>
            <a:ext cx="4695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182437"/>
                </a:solidFill>
                <a:latin typeface="Arial"/>
                <a:ea typeface="Arial"/>
                <a:cs typeface="Arial"/>
              </a:defRPr>
            </a:defPPr>
          </a:lstStyle>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/homes2 — Alexander's home</a:t>
            </a:r>
          </a:p>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Read-only · write setup pending</a:t>
            </a:r>
          </a:p>
        </p:txBody>
      </p:sp>
      <p:sp>
        <p:nvSpPr>
          <p:cNvPr id="35" name="box-35">
            <a:extLst xmlns:a="http://schemas.openxmlformats.org/drawingml/2006/main">
              <a:ext uri="{FF2B5EF4-FFF2-40B4-BE49-F238E27FC236}">
                <a16:creationId xmlns:a16="http://schemas.microsoft.com/office/drawing/2014/main" id="{414E4B2E-DEA5-4594-8CC9-0493DBA4D28A}"/>
              </a:ext>
            </a:extLst>
          </p:cNvPr>
          <p:cNvSpPr>
            <a:spLocks xmlns:a="http://schemas.openxmlformats.org/drawingml/2006/main" noGrp="1"/>
          </p:cNvSpPr>
          <p:nvPr/>
        </p:nvSpPr>
        <p:spPr>
          <a:xfrm xmlns:a="http://schemas.openxmlformats.org/drawingml/2006/main">
            <a:off x="6572250" y="4333875"/>
            <a:ext cx="4143375" cy="3238500"/>
          </a:xfrm>
          <a:prstGeom xmlns:a="http://schemas.openxmlformats.org/drawingml/2006/main" prst="roundRect">
            <a:avLst>
              <a:gd name="adj" fmla="val 3529"/>
            </a:avLst>
          </a:prstGeom>
          <a:solidFill xmlns:a="http://schemas.openxmlformats.org/drawingml/2006/main">
            <a:srgbClr val="F6F1FF"/>
          </a:solidFill>
          <a:ln xmlns:a="http://schemas.openxmlformats.org/drawingml/2006/main" w="19050">
            <a:solidFill>
              <a:srgbClr val="7C3AED"/>
            </a:solidFill>
            <a:prstDash val="solid"/>
          </a:ln>
        </p:spPr>
      </p:sp>
      <p:sp>
        <p:nvSpPr>
          <p:cNvPr id="36" name="text-36">
            <a:extLst xmlns:a="http://schemas.openxmlformats.org/drawingml/2006/main">
              <a:ext uri="{FF2B5EF4-FFF2-40B4-BE49-F238E27FC236}">
                <a16:creationId xmlns:a16="http://schemas.microsoft.com/office/drawing/2014/main" id="{FE705C8F-F3D2-4592-A1A1-ED4C37B753EB}"/>
              </a:ext>
            </a:extLst>
          </p:cNvPr>
          <p:cNvSpPr>
            <a:spLocks xmlns:a="http://schemas.openxmlformats.org/drawingml/2006/main" noGrp="1"/>
          </p:cNvSpPr>
          <p:nvPr/>
        </p:nvSpPr>
        <p:spPr>
          <a:xfrm xmlns:a="http://schemas.openxmlformats.org/drawingml/2006/main">
            <a:off x="6762750" y="4514850"/>
            <a:ext cx="3762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6D28D9"/>
                </a:solidFill>
                <a:latin typeface="Arial"/>
                <a:ea typeface="Arial"/>
                <a:cs typeface="Arial"/>
              </a:defRPr>
            </a:defPPr>
          </a:lstStyle>
          <a:p xmlns:a="http://schemas.openxmlformats.org/drawingml/2006/main">
            <a:pPr algn="l">
              <a:defRPr sz="1950" b="1">
                <a:solidFill>
                  <a:srgbClr val="6D28D9"/>
                </a:solidFill>
                <a:latin typeface="Arial"/>
                <a:ea typeface="Arial"/>
                <a:cs typeface="Arial"/>
              </a:defRPr>
            </a:pPr>
            <a:r>
              <a:rPr sz="1950" b="1">
                <a:solidFill>
                  <a:srgbClr val="6D28D9"/>
                </a:solidFill>
                <a:latin typeface="Arial"/>
                <a:ea typeface="Arial"/>
                <a:cs typeface="Arial"/>
              </a:rPr>
              <a:t>Compute · detecdiv-server</a:t>
            </a:r>
          </a:p>
        </p:txBody>
      </p:sp>
      <p:sp>
        <p:nvSpPr>
          <p:cNvPr id="37" name="box-37">
            <a:extLst xmlns:a="http://schemas.openxmlformats.org/drawingml/2006/main">
              <a:ext uri="{FF2B5EF4-FFF2-40B4-BE49-F238E27FC236}">
                <a16:creationId xmlns:a16="http://schemas.microsoft.com/office/drawing/2014/main" id="{B6448395-8703-453F-914F-A5B10B09EB85}"/>
              </a:ext>
            </a:extLst>
          </p:cNvPr>
          <p:cNvSpPr>
            <a:spLocks xmlns:a="http://schemas.openxmlformats.org/drawingml/2006/main" noGrp="1"/>
          </p:cNvSpPr>
          <p:nvPr/>
        </p:nvSpPr>
        <p:spPr>
          <a:xfrm xmlns:a="http://schemas.openxmlformats.org/drawingml/2006/main">
            <a:off x="6762750" y="4972050"/>
            <a:ext cx="3762375" cy="1057275"/>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D6C3F4"/>
            </a:solidFill>
            <a:prstDash val="solid"/>
          </a:ln>
        </p:spPr>
      </p:sp>
      <p:sp>
        <p:nvSpPr>
          <p:cNvPr id="38" name="text-38">
            <a:extLst xmlns:a="http://schemas.openxmlformats.org/drawingml/2006/main">
              <a:ext uri="{FF2B5EF4-FFF2-40B4-BE49-F238E27FC236}">
                <a16:creationId xmlns:a16="http://schemas.microsoft.com/office/drawing/2014/main" id="{3C3A5778-23F2-41A6-8869-1D83983F7276}"/>
              </a:ext>
            </a:extLst>
          </p:cNvPr>
          <p:cNvSpPr>
            <a:spLocks xmlns:a="http://schemas.openxmlformats.org/drawingml/2006/main" noGrp="1"/>
          </p:cNvSpPr>
          <p:nvPr/>
        </p:nvSpPr>
        <p:spPr>
          <a:xfrm xmlns:a="http://schemas.openxmlformats.org/drawingml/2006/main">
            <a:off x="6924675" y="5086350"/>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182437"/>
                </a:solidFill>
                <a:latin typeface="Arial"/>
                <a:ea typeface="Arial"/>
                <a:cs typeface="Arial"/>
              </a:defRPr>
            </a:defPPr>
          </a:lstStyle>
          <a:p xmlns:a="http://schemas.openxmlformats.org/drawingml/2006/main">
            <a:pPr algn="l">
              <a:defRPr sz="1875" b="1">
                <a:solidFill>
                  <a:srgbClr val="182437"/>
                </a:solidFill>
                <a:latin typeface="Arial"/>
                <a:ea typeface="Arial"/>
                <a:cs typeface="Arial"/>
              </a:defRPr>
            </a:pPr>
            <a:r>
              <a:rPr sz="1875" b="1">
                <a:solidFill>
                  <a:srgbClr val="182437"/>
                </a:solidFill>
                <a:latin typeface="Arial"/>
                <a:ea typeface="Arial"/>
                <a:cs typeface="Arial"/>
              </a:rPr>
              <a:t>Hub workers + DetecDiv</a:t>
            </a:r>
          </a:p>
        </p:txBody>
      </p:sp>
      <p:sp>
        <p:nvSpPr>
          <p:cNvPr id="39" name="text-39">
            <a:extLst xmlns:a="http://schemas.openxmlformats.org/drawingml/2006/main">
              <a:ext uri="{FF2B5EF4-FFF2-40B4-BE49-F238E27FC236}">
                <a16:creationId xmlns:a16="http://schemas.microsoft.com/office/drawing/2014/main" id="{ED0EFD4F-28A7-464C-BED8-5D7950C51B08}"/>
              </a:ext>
            </a:extLst>
          </p:cNvPr>
          <p:cNvSpPr>
            <a:spLocks xmlns:a="http://schemas.openxmlformats.org/drawingml/2006/main" noGrp="1"/>
          </p:cNvSpPr>
          <p:nvPr/>
        </p:nvSpPr>
        <p:spPr>
          <a:xfrm xmlns:a="http://schemas.openxmlformats.org/drawingml/2006/main">
            <a:off x="6924675" y="5486400"/>
            <a:ext cx="3448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182437"/>
                </a:solidFill>
                <a:latin typeface="Arial"/>
                <a:ea typeface="Arial"/>
                <a:cs typeface="Arial"/>
              </a:defRPr>
            </a:defPPr>
          </a:lstStyle>
          <a:p xmlns:a="http://schemas.openxmlformats.org/drawingml/2006/main">
            <a:pPr algn="l">
              <a:defRPr sz="1500" b="0">
                <a:solidFill>
                  <a:srgbClr val="182437"/>
                </a:solidFill>
                <a:latin typeface="Arial"/>
                <a:ea typeface="Arial"/>
                <a:cs typeface="Arial"/>
              </a:defRPr>
            </a:pPr>
            <a:r>
              <a:rPr sz="1500" b="0">
                <a:solidFill>
                  <a:srgbClr val="182437"/>
                </a:solidFill>
                <a:latin typeface="Arial"/>
                <a:ea typeface="Arial"/>
                <a:cs typeface="Arial"/>
              </a:rPr>
              <a:t>MATLAB / Python · pinned release</a:t>
            </a:r>
          </a:p>
          <a:p xmlns:a="http://schemas.openxmlformats.org/drawingml/2006/main">
            <a:pPr algn="l">
              <a:defRPr sz="1500" b="0">
                <a:solidFill>
                  <a:srgbClr val="182437"/>
                </a:solidFill>
                <a:latin typeface="Arial"/>
                <a:ea typeface="Arial"/>
                <a:cs typeface="Arial"/>
              </a:defRPr>
            </a:pPr>
            <a:r>
              <a:rPr sz="1500" b="0">
                <a:solidFill>
                  <a:srgbClr val="182437"/>
                </a:solidFill>
                <a:latin typeface="Arial"/>
                <a:ea typeface="Arial"/>
                <a:cs typeface="Arial"/>
              </a:rPr>
              <a:t>Index, run, backup, archive</a:t>
            </a:r>
          </a:p>
        </p:txBody>
      </p:sp>
      <p:sp>
        <p:nvSpPr>
          <p:cNvPr id="40" name="box-40">
            <a:extLst xmlns:a="http://schemas.openxmlformats.org/drawingml/2006/main">
              <a:ext uri="{FF2B5EF4-FFF2-40B4-BE49-F238E27FC236}">
                <a16:creationId xmlns:a16="http://schemas.microsoft.com/office/drawing/2014/main" id="{968B3723-EA6C-4CA3-9C85-5FE11E1380BB}"/>
              </a:ext>
            </a:extLst>
          </p:cNvPr>
          <p:cNvSpPr>
            <a:spLocks xmlns:a="http://schemas.openxmlformats.org/drawingml/2006/main" noGrp="1"/>
          </p:cNvSpPr>
          <p:nvPr/>
        </p:nvSpPr>
        <p:spPr>
          <a:xfrm xmlns:a="http://schemas.openxmlformats.org/drawingml/2006/main">
            <a:off x="6762750" y="6210300"/>
            <a:ext cx="3762375" cy="1152525"/>
          </a:xfrm>
          <a:prstGeom xmlns:a="http://schemas.openxmlformats.org/drawingml/2006/main" prst="roundRect">
            <a:avLst>
              <a:gd name="adj" fmla="val 9917"/>
            </a:avLst>
          </a:prstGeom>
          <a:solidFill xmlns:a="http://schemas.openxmlformats.org/drawingml/2006/main">
            <a:srgbClr val="FFF9F2"/>
          </a:solidFill>
          <a:ln xmlns:a="http://schemas.openxmlformats.org/drawingml/2006/main" w="19050">
            <a:solidFill>
              <a:srgbClr val="D17B28"/>
            </a:solidFill>
            <a:prstDash val="dash"/>
          </a:ln>
        </p:spPr>
      </p:sp>
      <p:sp>
        <p:nvSpPr>
          <p:cNvPr id="41" name="text-41">
            <a:extLst xmlns:a="http://schemas.openxmlformats.org/drawingml/2006/main">
              <a:ext uri="{FF2B5EF4-FFF2-40B4-BE49-F238E27FC236}">
                <a16:creationId xmlns:a16="http://schemas.microsoft.com/office/drawing/2014/main" id="{1A7674EA-05C0-4386-9253-C184DDC5E081}"/>
              </a:ext>
            </a:extLst>
          </p:cNvPr>
          <p:cNvSpPr>
            <a:spLocks xmlns:a="http://schemas.openxmlformats.org/drawingml/2006/main" noGrp="1"/>
          </p:cNvSpPr>
          <p:nvPr/>
        </p:nvSpPr>
        <p:spPr>
          <a:xfrm xmlns:a="http://schemas.openxmlformats.org/drawingml/2006/main">
            <a:off x="6924675" y="6324600"/>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182437"/>
                </a:solidFill>
                <a:latin typeface="Arial"/>
                <a:ea typeface="Arial"/>
                <a:cs typeface="Arial"/>
              </a:defRPr>
            </a:defPPr>
          </a:lstStyle>
          <a:p xmlns:a="http://schemas.openxmlformats.org/drawingml/2006/main">
            <a:pPr algn="l">
              <a:defRPr sz="1875" b="1">
                <a:solidFill>
                  <a:srgbClr val="182437"/>
                </a:solidFill>
                <a:latin typeface="Arial"/>
                <a:ea typeface="Arial"/>
                <a:cs typeface="Arial"/>
              </a:defRPr>
            </a:pPr>
            <a:r>
              <a:rPr sz="1875" b="1">
                <a:solidFill>
                  <a:srgbClr val="182437"/>
                </a:solidFill>
                <a:latin typeface="Arial"/>
                <a:ea typeface="Arial"/>
                <a:cs typeface="Arial"/>
              </a:rPr>
              <a:t>Local Qwen assistant</a:t>
            </a:r>
          </a:p>
        </p:txBody>
      </p:sp>
      <p:sp>
        <p:nvSpPr>
          <p:cNvPr id="42" name="text-42">
            <a:extLst xmlns:a="http://schemas.openxmlformats.org/drawingml/2006/main">
              <a:ext uri="{FF2B5EF4-FFF2-40B4-BE49-F238E27FC236}">
                <a16:creationId xmlns:a16="http://schemas.microsoft.com/office/drawing/2014/main" id="{AE2DB94A-1625-4DFB-8409-DDDD21B661AF}"/>
              </a:ext>
            </a:extLst>
          </p:cNvPr>
          <p:cNvSpPr>
            <a:spLocks xmlns:a="http://schemas.openxmlformats.org/drawingml/2006/main" noGrp="1"/>
          </p:cNvSpPr>
          <p:nvPr/>
        </p:nvSpPr>
        <p:spPr>
          <a:xfrm xmlns:a="http://schemas.openxmlformats.org/drawingml/2006/main">
            <a:off x="6924675" y="6715125"/>
            <a:ext cx="3448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13" b="0">
                <a:solidFill>
                  <a:srgbClr val="182437"/>
                </a:solidFill>
                <a:latin typeface="Arial"/>
                <a:ea typeface="Arial"/>
                <a:cs typeface="Arial"/>
              </a:defRPr>
            </a:defPPr>
          </a:lstStyle>
          <a:p xmlns:a="http://schemas.openxmlformats.org/drawingml/2006/main">
            <a:pPr algn="l">
              <a:defRPr sz="1613" b="0">
                <a:solidFill>
                  <a:srgbClr val="182437"/>
                </a:solidFill>
                <a:latin typeface="Arial"/>
                <a:ea typeface="Arial"/>
                <a:cs typeface="Arial"/>
              </a:defRPr>
            </a:pPr>
            <a:r>
              <a:rPr sz="1613" b="0">
                <a:solidFill>
                  <a:srgbClr val="182437"/>
                </a:solidFill>
                <a:latin typeface="Arial"/>
                <a:ea typeface="Arial"/>
                <a:cs typeface="Arial"/>
              </a:rPr>
              <a:t>Planned agent: complete projects</a:t>
            </a:r>
          </a:p>
          <a:p xmlns:a="http://schemas.openxmlformats.org/drawingml/2006/main">
            <a:pPr algn="l">
              <a:defRPr sz="1613" b="0">
                <a:solidFill>
                  <a:srgbClr val="182437"/>
                </a:solidFill>
                <a:latin typeface="Arial"/>
                <a:ea typeface="Arial"/>
                <a:cs typeface="Arial"/>
              </a:defRPr>
            </a:pPr>
            <a:r>
              <a:rPr sz="1613" b="0">
                <a:solidFill>
                  <a:srgbClr val="182437"/>
                </a:solidFill>
                <a:latin typeface="Arial"/>
                <a:ea typeface="Arial"/>
                <a:cs typeface="Arial"/>
              </a:rPr>
              <a:t>and help users write scripts</a:t>
            </a:r>
          </a:p>
        </p:txBody>
      </p:sp>
      <p:sp>
        <p:nvSpPr>
          <p:cNvPr id="43" name="box-43">
            <a:extLst xmlns:a="http://schemas.openxmlformats.org/drawingml/2006/main">
              <a:ext uri="{FF2B5EF4-FFF2-40B4-BE49-F238E27FC236}">
                <a16:creationId xmlns:a16="http://schemas.microsoft.com/office/drawing/2014/main" id="{93D4F70D-9217-42DD-9F8D-5D68F3B4620C}"/>
              </a:ext>
            </a:extLst>
          </p:cNvPr>
          <p:cNvSpPr>
            <a:spLocks xmlns:a="http://schemas.openxmlformats.org/drawingml/2006/main" noGrp="1"/>
          </p:cNvSpPr>
          <p:nvPr/>
        </p:nvSpPr>
        <p:spPr>
          <a:xfrm xmlns:a="http://schemas.openxmlformats.org/drawingml/2006/main">
            <a:off x="11477625" y="4333875"/>
            <a:ext cx="3381375" cy="3238500"/>
          </a:xfrm>
          <a:prstGeom xmlns:a="http://schemas.openxmlformats.org/drawingml/2006/main" prst="roundRect">
            <a:avLst>
              <a:gd name="adj" fmla="val 3529"/>
            </a:avLst>
          </a:prstGeom>
          <a:solidFill xmlns:a="http://schemas.openxmlformats.org/drawingml/2006/main">
            <a:srgbClr val="FFF0F6"/>
          </a:solidFill>
          <a:ln xmlns:a="http://schemas.openxmlformats.org/drawingml/2006/main" w="19050">
            <a:solidFill>
              <a:srgbClr val="DB2777"/>
            </a:solidFill>
            <a:prstDash val="solid"/>
          </a:ln>
        </p:spPr>
      </p:sp>
      <p:sp>
        <p:nvSpPr>
          <p:cNvPr id="44" name="text-44">
            <a:extLst xmlns:a="http://schemas.openxmlformats.org/drawingml/2006/main">
              <a:ext uri="{FF2B5EF4-FFF2-40B4-BE49-F238E27FC236}">
                <a16:creationId xmlns:a16="http://schemas.microsoft.com/office/drawing/2014/main" id="{DB448653-7F46-4E4E-A602-DDD128AAF52D}"/>
              </a:ext>
            </a:extLst>
          </p:cNvPr>
          <p:cNvSpPr>
            <a:spLocks xmlns:a="http://schemas.openxmlformats.org/drawingml/2006/main" noGrp="1"/>
          </p:cNvSpPr>
          <p:nvPr/>
        </p:nvSpPr>
        <p:spPr>
          <a:xfrm xmlns:a="http://schemas.openxmlformats.org/drawingml/2006/main">
            <a:off x="11668125" y="451485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B32169"/>
                </a:solidFill>
                <a:latin typeface="Arial"/>
                <a:ea typeface="Arial"/>
                <a:cs typeface="Arial"/>
              </a:defRPr>
            </a:defPPr>
          </a:lstStyle>
          <a:p xmlns:a="http://schemas.openxmlformats.org/drawingml/2006/main">
            <a:pPr algn="l">
              <a:defRPr sz="2100" b="1">
                <a:solidFill>
                  <a:srgbClr val="B32169"/>
                </a:solidFill>
                <a:latin typeface="Arial"/>
                <a:ea typeface="Arial"/>
                <a:cs typeface="Arial"/>
              </a:defRPr>
            </a:pPr>
            <a:r>
              <a:rPr sz="2100" b="1">
                <a:solidFill>
                  <a:srgbClr val="B32169"/>
                </a:solidFill>
                <a:latin typeface="Arial"/>
                <a:ea typeface="Arial"/>
                <a:cs typeface="Arial"/>
              </a:rPr>
              <a:t>Archive storage</a:t>
            </a:r>
          </a:p>
        </p:txBody>
      </p:sp>
      <p:sp>
        <p:nvSpPr>
          <p:cNvPr id="45" name="text-45">
            <a:extLst xmlns:a="http://schemas.openxmlformats.org/drawingml/2006/main">
              <a:ext uri="{FF2B5EF4-FFF2-40B4-BE49-F238E27FC236}">
                <a16:creationId xmlns:a16="http://schemas.microsoft.com/office/drawing/2014/main" id="{54327418-6104-4A22-8EE4-61C9C9A263D0}"/>
              </a:ext>
            </a:extLst>
          </p:cNvPr>
          <p:cNvSpPr>
            <a:spLocks xmlns:a="http://schemas.openxmlformats.org/drawingml/2006/main" noGrp="1"/>
          </p:cNvSpPr>
          <p:nvPr/>
        </p:nvSpPr>
        <p:spPr>
          <a:xfrm xmlns:a="http://schemas.openxmlformats.org/drawingml/2006/main">
            <a:off x="11668125" y="4991100"/>
            <a:ext cx="300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182437"/>
                </a:solidFill>
                <a:latin typeface="Arial"/>
                <a:ea typeface="Arial"/>
                <a:cs typeface="Arial"/>
              </a:defRPr>
            </a:defPPr>
          </a:lstStyle>
          <a:p xmlns:a="http://schemas.openxmlformats.org/drawingml/2006/main">
            <a:pPr algn="l">
              <a:defRPr sz="1650" b="1">
                <a:solidFill>
                  <a:srgbClr val="182437"/>
                </a:solidFill>
                <a:latin typeface="Arial"/>
                <a:ea typeface="Arial"/>
                <a:cs typeface="Arial"/>
              </a:defRPr>
            </a:pPr>
            <a:r>
              <a:rPr sz="1650" b="1">
                <a:solidFill>
                  <a:srgbClr val="182437"/>
                </a:solidFill>
                <a:latin typeface="Arial"/>
                <a:ea typeface="Arial"/>
                <a:cs typeface="Arial"/>
              </a:rPr>
              <a:t>10.20.11.251 · /archive</a:t>
            </a:r>
          </a:p>
        </p:txBody>
      </p:sp>
      <p:sp>
        <p:nvSpPr>
          <p:cNvPr id="46" name="text-46">
            <a:extLst xmlns:a="http://schemas.openxmlformats.org/drawingml/2006/main">
              <a:ext uri="{FF2B5EF4-FFF2-40B4-BE49-F238E27FC236}">
                <a16:creationId xmlns:a16="http://schemas.microsoft.com/office/drawing/2014/main" id="{B1437705-8977-415D-B7D1-387D493C0695}"/>
              </a:ext>
            </a:extLst>
          </p:cNvPr>
          <p:cNvSpPr>
            <a:spLocks xmlns:a="http://schemas.openxmlformats.org/drawingml/2006/main" noGrp="1"/>
          </p:cNvSpPr>
          <p:nvPr/>
        </p:nvSpPr>
        <p:spPr>
          <a:xfrm xmlns:a="http://schemas.openxmlformats.org/drawingml/2006/main">
            <a:off x="11668125" y="5457825"/>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1">
                <a:solidFill>
                  <a:srgbClr val="B32169"/>
                </a:solidFill>
                <a:latin typeface="Arial"/>
                <a:ea typeface="Arial"/>
                <a:cs typeface="Arial"/>
              </a:defRPr>
            </a:defPPr>
          </a:lstStyle>
          <a:p xmlns:a="http://schemas.openxmlformats.org/drawingml/2006/main">
            <a:pPr algn="l">
              <a:defRPr sz="1500" b="1">
                <a:solidFill>
                  <a:srgbClr val="B32169"/>
                </a:solidFill>
                <a:latin typeface="Arial"/>
                <a:ea typeface="Arial"/>
                <a:cs typeface="Arial"/>
              </a:defRPr>
            </a:pPr>
            <a:r>
              <a:rPr sz="1500" b="1">
                <a:solidFill>
                  <a:srgbClr val="B32169"/>
                </a:solidFill>
                <a:latin typeface="Arial"/>
                <a:ea typeface="Arial"/>
                <a:cs typeface="Arial"/>
              </a:rPr>
              <a:t>BACKUP</a:t>
            </a:r>
          </a:p>
        </p:txBody>
      </p:sp>
      <p:sp>
        <p:nvSpPr>
          <p:cNvPr id="47" name="text-47">
            <a:extLst xmlns:a="http://schemas.openxmlformats.org/drawingml/2006/main">
              <a:ext uri="{FF2B5EF4-FFF2-40B4-BE49-F238E27FC236}">
                <a16:creationId xmlns:a16="http://schemas.microsoft.com/office/drawing/2014/main" id="{A61A6488-4AF0-4DE0-B3CE-05D862ADC516}"/>
              </a:ext>
            </a:extLst>
          </p:cNvPr>
          <p:cNvSpPr>
            <a:spLocks xmlns:a="http://schemas.openxmlformats.org/drawingml/2006/main" noGrp="1"/>
          </p:cNvSpPr>
          <p:nvPr/>
        </p:nvSpPr>
        <p:spPr>
          <a:xfrm xmlns:a="http://schemas.openxmlformats.org/drawingml/2006/main">
            <a:off x="11668125" y="5753100"/>
            <a:ext cx="300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182437"/>
                </a:solidFill>
                <a:latin typeface="Arial"/>
                <a:ea typeface="Arial"/>
                <a:cs typeface="Arial"/>
              </a:defRPr>
            </a:defPPr>
          </a:lstStyle>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Restic snapshots</a:t>
            </a:r>
          </a:p>
          <a:p xmlns:a="http://schemas.openxmlformats.org/drawingml/2006/main">
            <a:pPr algn="l">
              <a:defRPr sz="1650" b="0">
                <a:solidFill>
                  <a:srgbClr val="182437"/>
                </a:solidFill>
                <a:latin typeface="Arial"/>
                <a:ea typeface="Arial"/>
                <a:cs typeface="Arial"/>
              </a:defRPr>
            </a:pPr>
            <a:r>
              <a:rPr sz="1650" b="0">
                <a:solidFill>
                  <a:srgbClr val="182437"/>
                </a:solidFill>
                <a:latin typeface="Arial"/>
                <a:ea typeface="Arial"/>
                <a:cs typeface="Arial"/>
              </a:rPr>
              <a:t>Projects + raw datasets</a:t>
            </a:r>
          </a:p>
        </p:txBody>
      </p:sp>
      <p:sp>
        <p:nvSpPr>
          <p:cNvPr id="48" name="text-48">
            <a:extLst xmlns:a="http://schemas.openxmlformats.org/drawingml/2006/main">
              <a:ext uri="{FF2B5EF4-FFF2-40B4-BE49-F238E27FC236}">
                <a16:creationId xmlns:a16="http://schemas.microsoft.com/office/drawing/2014/main" id="{98B3D370-66F2-45C0-BEFB-C2C8305D867B}"/>
              </a:ext>
            </a:extLst>
          </p:cNvPr>
          <p:cNvSpPr>
            <a:spLocks xmlns:a="http://schemas.openxmlformats.org/drawingml/2006/main" noGrp="1"/>
          </p:cNvSpPr>
          <p:nvPr/>
        </p:nvSpPr>
        <p:spPr>
          <a:xfrm xmlns:a="http://schemas.openxmlformats.org/drawingml/2006/main">
            <a:off x="11668125" y="6477000"/>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1">
                <a:solidFill>
                  <a:srgbClr val="B32169"/>
                </a:solidFill>
                <a:latin typeface="Arial"/>
                <a:ea typeface="Arial"/>
                <a:cs typeface="Arial"/>
              </a:defRPr>
            </a:defPPr>
          </a:lstStyle>
          <a:p xmlns:a="http://schemas.openxmlformats.org/drawingml/2006/main">
            <a:pPr algn="l">
              <a:defRPr sz="1500" b="1">
                <a:solidFill>
                  <a:srgbClr val="B32169"/>
                </a:solidFill>
                <a:latin typeface="Arial"/>
                <a:ea typeface="Arial"/>
                <a:cs typeface="Arial"/>
              </a:defRPr>
            </a:pPr>
            <a:r>
              <a:rPr sz="1500" b="1">
                <a:solidFill>
                  <a:srgbClr val="B32169"/>
                </a:solidFill>
                <a:latin typeface="Arial"/>
                <a:ea typeface="Arial"/>
                <a:cs typeface="Arial"/>
              </a:rPr>
              <a:t>ARCHIVE</a:t>
            </a:r>
          </a:p>
        </p:txBody>
      </p:sp>
      <p:sp>
        <p:nvSpPr>
          <p:cNvPr id="49" name="text-49">
            <a:extLst xmlns:a="http://schemas.openxmlformats.org/drawingml/2006/main">
              <a:ext uri="{FF2B5EF4-FFF2-40B4-BE49-F238E27FC236}">
                <a16:creationId xmlns:a16="http://schemas.microsoft.com/office/drawing/2014/main" id="{75E5B659-BBE4-41DE-B903-C0B8FE4F0271}"/>
              </a:ext>
            </a:extLst>
          </p:cNvPr>
          <p:cNvSpPr>
            <a:spLocks xmlns:a="http://schemas.openxmlformats.org/drawingml/2006/main" noGrp="1"/>
          </p:cNvSpPr>
          <p:nvPr/>
        </p:nvSpPr>
        <p:spPr>
          <a:xfrm xmlns:a="http://schemas.openxmlformats.org/drawingml/2006/main">
            <a:off x="11668125" y="6772275"/>
            <a:ext cx="300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425" b="0">
                <a:solidFill>
                  <a:srgbClr val="182437"/>
                </a:solidFill>
                <a:latin typeface="Arial"/>
                <a:ea typeface="Arial"/>
                <a:cs typeface="Arial"/>
              </a:defRPr>
            </a:defPPr>
          </a:lstStyle>
          <a:p xmlns:a="http://schemas.openxmlformats.org/drawingml/2006/main">
            <a:pPr algn="l">
              <a:defRPr sz="1425" b="0">
                <a:solidFill>
                  <a:srgbClr val="182437"/>
                </a:solidFill>
                <a:latin typeface="Arial"/>
                <a:ea typeface="Arial"/>
                <a:cs typeface="Arial"/>
              </a:defRPr>
            </a:pPr>
            <a:r>
              <a:rPr sz="1425" b="0">
                <a:solidFill>
                  <a:srgbClr val="182437"/>
                </a:solidFill>
                <a:latin typeface="Arial"/>
                <a:ea typeface="Arial"/>
                <a:cs typeface="Arial"/>
              </a:rPr>
              <a:t>ZIP / tar.gz bundles</a:t>
            </a:r>
          </a:p>
          <a:p xmlns:a="http://schemas.openxmlformats.org/drawingml/2006/main">
            <a:pPr algn="l">
              <a:defRPr sz="1425" b="0">
                <a:solidFill>
                  <a:srgbClr val="182437"/>
                </a:solidFill>
                <a:latin typeface="Arial"/>
                <a:ea typeface="Arial"/>
                <a:cs typeface="Arial"/>
              </a:defRPr>
            </a:pPr>
            <a:r>
              <a:rPr sz="1425" b="0">
                <a:solidFill>
                  <a:srgbClr val="182437"/>
                </a:solidFill>
                <a:latin typeface="Arial"/>
                <a:ea typeface="Arial"/>
                <a:cs typeface="Arial"/>
              </a:rPr>
              <a:t>Optional cleanup after success</a:t>
            </a:r>
          </a:p>
        </p:txBody>
      </p:sp>
      <p:sp>
        <p:nvSpPr>
          <p:cNvPr id="50" name="path-50">
            <a:extLst xmlns:a="http://schemas.openxmlformats.org/drawingml/2006/main">
              <a:ext uri="{FF2B5EF4-FFF2-40B4-BE49-F238E27FC236}">
                <a16:creationId xmlns:a16="http://schemas.microsoft.com/office/drawing/2014/main" id="{766A9BA7-C6F2-414E-8D95-A39C1C8D0B91}"/>
              </a:ext>
            </a:extLst>
          </p:cNvPr>
          <p:cNvSpPr>
            <a:spLocks xmlns:a="http://schemas.openxmlformats.org/drawingml/2006/main" noGrp="1"/>
          </p:cNvSpPr>
          <p:nvPr/>
        </p:nvSpPr>
        <p:spPr>
          <a:xfrm xmlns:a="http://schemas.openxmlformats.org/drawingml/2006/main">
            <a:off x="3714750" y="22002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28575">
            <a:solidFill>
              <a:srgbClr val="2563EB"/>
            </a:solidFill>
            <a:prstDash val="dash"/>
          </a:ln>
        </p:spPr>
      </p:sp>
      <p:sp>
        <p:nvSpPr>
          <p:cNvPr id="51" name="path-51">
            <a:extLst xmlns:a="http://schemas.openxmlformats.org/drawingml/2006/main">
              <a:ext uri="{FF2B5EF4-FFF2-40B4-BE49-F238E27FC236}">
                <a16:creationId xmlns:a16="http://schemas.microsoft.com/office/drawing/2014/main" id="{2E065E4A-1B17-4302-AEC8-4D362D77557C}"/>
              </a:ext>
            </a:extLst>
          </p:cNvPr>
          <p:cNvSpPr>
            <a:spLocks xmlns:a="http://schemas.openxmlformats.org/drawingml/2006/main" noGrp="1"/>
          </p:cNvSpPr>
          <p:nvPr/>
        </p:nvSpPr>
        <p:spPr>
          <a:xfrm xmlns:a="http://schemas.openxmlformats.org/drawingml/2006/main">
            <a:off x="4371975" y="2152650"/>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2563EB"/>
          </a:solidFill>
          <a:ln xmlns:a="http://schemas.openxmlformats.org/drawingml/2006/main" w="0">
            <a:solidFill>
              <a:srgbClr val="2563EB"/>
            </a:solidFill>
            <a:prstDash val="solid"/>
          </a:ln>
        </p:spPr>
      </p:sp>
      <p:sp>
        <p:nvSpPr>
          <p:cNvPr id="52" name="path-52">
            <a:extLst xmlns:a="http://schemas.openxmlformats.org/drawingml/2006/main">
              <a:ext uri="{FF2B5EF4-FFF2-40B4-BE49-F238E27FC236}">
                <a16:creationId xmlns:a16="http://schemas.microsoft.com/office/drawing/2014/main" id="{B8874FDB-8670-4045-8734-2AAB572ADC23}"/>
              </a:ext>
            </a:extLst>
          </p:cNvPr>
          <p:cNvSpPr>
            <a:spLocks xmlns:a="http://schemas.openxmlformats.org/drawingml/2006/main" noGrp="1"/>
          </p:cNvSpPr>
          <p:nvPr/>
        </p:nvSpPr>
        <p:spPr>
          <a:xfrm xmlns:a="http://schemas.openxmlformats.org/drawingml/2006/main">
            <a:off x="3714750" y="2152650"/>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2563EB"/>
          </a:solidFill>
          <a:ln xmlns:a="http://schemas.openxmlformats.org/drawingml/2006/main" w="0">
            <a:solidFill>
              <a:srgbClr val="2563EB"/>
            </a:solidFill>
            <a:prstDash val="solid"/>
          </a:ln>
        </p:spPr>
      </p:sp>
      <p:sp>
        <p:nvSpPr>
          <p:cNvPr id="53" name="text-53">
            <a:extLst xmlns:a="http://schemas.openxmlformats.org/drawingml/2006/main">
              <a:ext uri="{FF2B5EF4-FFF2-40B4-BE49-F238E27FC236}">
                <a16:creationId xmlns:a16="http://schemas.microsoft.com/office/drawing/2014/main" id="{BF79476C-A62F-4BE8-B979-B624F57F1E66}"/>
              </a:ext>
            </a:extLst>
          </p:cNvPr>
          <p:cNvSpPr>
            <a:spLocks xmlns:a="http://schemas.openxmlformats.org/drawingml/2006/main" noGrp="1"/>
          </p:cNvSpPr>
          <p:nvPr/>
        </p:nvSpPr>
        <p:spPr>
          <a:xfrm xmlns:a="http://schemas.openxmlformats.org/drawingml/2006/main">
            <a:off x="3867150" y="1857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425" b="1">
                <a:solidFill>
                  <a:srgbClr val="2563EB"/>
                </a:solidFill>
                <a:latin typeface="Arial"/>
                <a:ea typeface="Arial"/>
                <a:cs typeface="Arial"/>
              </a:defRPr>
            </a:defPPr>
          </a:lstStyle>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API</a:t>
            </a:r>
          </a:p>
        </p:txBody>
      </p:sp>
      <p:sp>
        <p:nvSpPr>
          <p:cNvPr id="54" name="path-54">
            <a:extLst xmlns:a="http://schemas.openxmlformats.org/drawingml/2006/main">
              <a:ext uri="{FF2B5EF4-FFF2-40B4-BE49-F238E27FC236}">
                <a16:creationId xmlns:a16="http://schemas.microsoft.com/office/drawing/2014/main" id="{36B646B2-12C9-45AC-A2A3-40CDD26E7CDA}"/>
              </a:ext>
            </a:extLst>
          </p:cNvPr>
          <p:cNvSpPr>
            <a:spLocks xmlns:a="http://schemas.openxmlformats.org/drawingml/2006/main" noGrp="1"/>
          </p:cNvSpPr>
          <p:nvPr/>
        </p:nvSpPr>
        <p:spPr>
          <a:xfrm xmlns:a="http://schemas.openxmlformats.org/drawingml/2006/main">
            <a:off x="10715625" y="2114550"/>
            <a:ext cx="762000" cy="9525"/>
          </a:xfrm>
          <a:custGeom xmlns:a="http://schemas.openxmlformats.org/drawingml/2006/main">
            <a:pathLst>
              <a:path w="762000" h="9525">
                <a:moveTo>
                  <a:pt x="762000" y="0"/>
                </a:moveTo>
                <a:lnTo>
                  <a:pt x="0" y="0"/>
                </a:lnTo>
              </a:path>
            </a:pathLst>
          </a:custGeom>
          <a:noFill xmlns:a="http://schemas.openxmlformats.org/drawingml/2006/main"/>
          <a:ln xmlns:a="http://schemas.openxmlformats.org/drawingml/2006/main" w="28575">
            <a:solidFill>
              <a:srgbClr val="B77909"/>
            </a:solidFill>
            <a:prstDash val="dash"/>
          </a:ln>
        </p:spPr>
      </p:sp>
      <p:sp>
        <p:nvSpPr>
          <p:cNvPr id="55" name="path-55">
            <a:extLst xmlns:a="http://schemas.openxmlformats.org/drawingml/2006/main">
              <a:ext uri="{FF2B5EF4-FFF2-40B4-BE49-F238E27FC236}">
                <a16:creationId xmlns:a16="http://schemas.microsoft.com/office/drawing/2014/main" id="{FF59BE63-9C42-406E-ADE7-748AEFDEB0E9}"/>
              </a:ext>
            </a:extLst>
          </p:cNvPr>
          <p:cNvSpPr>
            <a:spLocks xmlns:a="http://schemas.openxmlformats.org/drawingml/2006/main" noGrp="1"/>
          </p:cNvSpPr>
          <p:nvPr/>
        </p:nvSpPr>
        <p:spPr>
          <a:xfrm xmlns:a="http://schemas.openxmlformats.org/drawingml/2006/main">
            <a:off x="10715625" y="206692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B77909"/>
          </a:solidFill>
          <a:ln xmlns:a="http://schemas.openxmlformats.org/drawingml/2006/main" w="0">
            <a:solidFill>
              <a:srgbClr val="B77909"/>
            </a:solidFill>
            <a:prstDash val="solid"/>
          </a:ln>
        </p:spPr>
      </p:sp>
      <p:sp>
        <p:nvSpPr>
          <p:cNvPr id="56" name="path-56">
            <a:extLst xmlns:a="http://schemas.openxmlformats.org/drawingml/2006/main">
              <a:ext uri="{FF2B5EF4-FFF2-40B4-BE49-F238E27FC236}">
                <a16:creationId xmlns:a16="http://schemas.microsoft.com/office/drawing/2014/main" id="{91248FAB-FBED-4093-8D80-B3F754D0C13C}"/>
              </a:ext>
            </a:extLst>
          </p:cNvPr>
          <p:cNvSpPr>
            <a:spLocks xmlns:a="http://schemas.openxmlformats.org/drawingml/2006/main" noGrp="1"/>
          </p:cNvSpPr>
          <p:nvPr/>
        </p:nvSpPr>
        <p:spPr>
          <a:xfrm xmlns:a="http://schemas.openxmlformats.org/drawingml/2006/main">
            <a:off x="11372850" y="206692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B77909"/>
          </a:solidFill>
          <a:ln xmlns:a="http://schemas.openxmlformats.org/drawingml/2006/main" w="0">
            <a:solidFill>
              <a:srgbClr val="B77909"/>
            </a:solidFill>
            <a:prstDash val="solid"/>
          </a:ln>
        </p:spPr>
      </p:sp>
      <p:sp>
        <p:nvSpPr>
          <p:cNvPr id="57" name="text-57">
            <a:extLst xmlns:a="http://schemas.openxmlformats.org/drawingml/2006/main">
              <a:ext uri="{FF2B5EF4-FFF2-40B4-BE49-F238E27FC236}">
                <a16:creationId xmlns:a16="http://schemas.microsoft.com/office/drawing/2014/main" id="{7D72F7F4-ABC5-4EB9-BCE7-AA6953964D78}"/>
              </a:ext>
            </a:extLst>
          </p:cNvPr>
          <p:cNvSpPr>
            <a:spLocks xmlns:a="http://schemas.openxmlformats.org/drawingml/2006/main" noGrp="1"/>
          </p:cNvSpPr>
          <p:nvPr/>
        </p:nvSpPr>
        <p:spPr>
          <a:xfrm xmlns:a="http://schemas.openxmlformats.org/drawingml/2006/main">
            <a:off x="10877550" y="1752600"/>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B77909"/>
                </a:solidFill>
                <a:latin typeface="Arial"/>
                <a:ea typeface="Arial"/>
                <a:cs typeface="Arial"/>
              </a:defRPr>
            </a:defPPr>
          </a:lstStyle>
          <a:p xmlns:a="http://schemas.openxmlformats.org/drawingml/2006/main">
            <a:pPr algn="l">
              <a:defRPr sz="1350" b="1">
                <a:solidFill>
                  <a:srgbClr val="B77909"/>
                </a:solidFill>
                <a:latin typeface="Arial"/>
                <a:ea typeface="Arial"/>
                <a:cs typeface="Arial"/>
              </a:defRPr>
            </a:pPr>
            <a:r>
              <a:rPr sz="1350" b="1">
                <a:solidFill>
                  <a:srgbClr val="B77909"/>
                </a:solidFill>
                <a:latin typeface="Arial"/>
                <a:ea typeface="Arial"/>
                <a:cs typeface="Arial"/>
              </a:rPr>
              <a:t>links</a:t>
            </a:r>
          </a:p>
        </p:txBody>
      </p:sp>
      <p:sp>
        <p:nvSpPr>
          <p:cNvPr id="58" name="path-58">
            <a:extLst xmlns:a="http://schemas.openxmlformats.org/drawingml/2006/main">
              <a:ext uri="{FF2B5EF4-FFF2-40B4-BE49-F238E27FC236}">
                <a16:creationId xmlns:a16="http://schemas.microsoft.com/office/drawing/2014/main" id="{04A2C453-7242-4FB0-BFCB-E90F42432867}"/>
              </a:ext>
            </a:extLst>
          </p:cNvPr>
          <p:cNvSpPr>
            <a:spLocks xmlns:a="http://schemas.openxmlformats.org/drawingml/2006/main" noGrp="1"/>
          </p:cNvSpPr>
          <p:nvPr/>
        </p:nvSpPr>
        <p:spPr>
          <a:xfrm xmlns:a="http://schemas.openxmlformats.org/drawingml/2006/main">
            <a:off x="2190750" y="361950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16A34A"/>
            </a:solidFill>
            <a:prstDash val="solid"/>
          </a:ln>
        </p:spPr>
      </p:sp>
      <p:sp>
        <p:nvSpPr>
          <p:cNvPr id="59" name="path-59">
            <a:extLst xmlns:a="http://schemas.openxmlformats.org/drawingml/2006/main">
              <a:ext uri="{FF2B5EF4-FFF2-40B4-BE49-F238E27FC236}">
                <a16:creationId xmlns:a16="http://schemas.microsoft.com/office/drawing/2014/main" id="{BC418EB5-5BC4-4C76-AD26-4F0007AB394C}"/>
              </a:ext>
            </a:extLst>
          </p:cNvPr>
          <p:cNvSpPr>
            <a:spLocks xmlns:a="http://schemas.openxmlformats.org/drawingml/2006/main" noGrp="1"/>
          </p:cNvSpPr>
          <p:nvPr/>
        </p:nvSpPr>
        <p:spPr>
          <a:xfrm xmlns:a="http://schemas.openxmlformats.org/drawingml/2006/main">
            <a:off x="2143125" y="4229100"/>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16A34A"/>
          </a:solidFill>
          <a:ln xmlns:a="http://schemas.openxmlformats.org/drawingml/2006/main" w="0">
            <a:solidFill>
              <a:srgbClr val="16A34A"/>
            </a:solidFill>
            <a:prstDash val="solid"/>
          </a:ln>
        </p:spPr>
      </p:sp>
      <p:sp>
        <p:nvSpPr>
          <p:cNvPr id="60" name="text-60">
            <a:extLst xmlns:a="http://schemas.openxmlformats.org/drawingml/2006/main">
              <a:ext uri="{FF2B5EF4-FFF2-40B4-BE49-F238E27FC236}">
                <a16:creationId xmlns:a16="http://schemas.microsoft.com/office/drawing/2014/main" id="{AE8F6ECF-1335-4E07-9FE4-D715E309E683}"/>
              </a:ext>
            </a:extLst>
          </p:cNvPr>
          <p:cNvSpPr>
            <a:spLocks xmlns:a="http://schemas.openxmlformats.org/drawingml/2006/main" noGrp="1"/>
          </p:cNvSpPr>
          <p:nvPr/>
        </p:nvSpPr>
        <p:spPr>
          <a:xfrm xmlns:a="http://schemas.openxmlformats.org/drawingml/2006/main">
            <a:off x="2324100" y="38385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16A34A"/>
                </a:solidFill>
                <a:latin typeface="Arial"/>
                <a:ea typeface="Arial"/>
                <a:cs typeface="Arial"/>
              </a:defRPr>
            </a:defPPr>
          </a:lstStyle>
          <a:p xmlns:a="http://schemas.openxmlformats.org/drawingml/2006/main">
            <a:pPr algn="l">
              <a:defRPr sz="1350" b="1">
                <a:solidFill>
                  <a:srgbClr val="16A34A"/>
                </a:solidFill>
                <a:latin typeface="Arial"/>
                <a:ea typeface="Arial"/>
                <a:cs typeface="Arial"/>
              </a:defRPr>
            </a:pPr>
            <a:r>
              <a:rPr sz="1350" b="1">
                <a:solidFill>
                  <a:srgbClr val="16A34A"/>
                </a:solidFill>
                <a:latin typeface="Arial"/>
                <a:ea typeface="Arial"/>
                <a:cs typeface="Arial"/>
              </a:rPr>
              <a:t>Images / Samba files</a:t>
            </a:r>
          </a:p>
        </p:txBody>
      </p:sp>
      <p:sp>
        <p:nvSpPr>
          <p:cNvPr id="61" name="path-61">
            <a:extLst xmlns:a="http://schemas.openxmlformats.org/drawingml/2006/main">
              <a:ext uri="{FF2B5EF4-FFF2-40B4-BE49-F238E27FC236}">
                <a16:creationId xmlns:a16="http://schemas.microsoft.com/office/drawing/2014/main" id="{3644AB33-BC95-47AE-B8F8-D78166EA8168}"/>
              </a:ext>
            </a:extLst>
          </p:cNvPr>
          <p:cNvSpPr>
            <a:spLocks xmlns:a="http://schemas.openxmlformats.org/drawingml/2006/main" noGrp="1"/>
          </p:cNvSpPr>
          <p:nvPr/>
        </p:nvSpPr>
        <p:spPr>
          <a:xfrm xmlns:a="http://schemas.openxmlformats.org/drawingml/2006/main">
            <a:off x="7000875" y="361950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2563EB"/>
            </a:solidFill>
            <a:prstDash val="dash"/>
          </a:ln>
        </p:spPr>
      </p:sp>
      <p:sp>
        <p:nvSpPr>
          <p:cNvPr id="62" name="path-62">
            <a:extLst xmlns:a="http://schemas.openxmlformats.org/drawingml/2006/main">
              <a:ext uri="{FF2B5EF4-FFF2-40B4-BE49-F238E27FC236}">
                <a16:creationId xmlns:a16="http://schemas.microsoft.com/office/drawing/2014/main" id="{3758B502-E3B2-45BC-927D-9B66E37B37FB}"/>
              </a:ext>
            </a:extLst>
          </p:cNvPr>
          <p:cNvSpPr>
            <a:spLocks xmlns:a="http://schemas.openxmlformats.org/drawingml/2006/main" noGrp="1"/>
          </p:cNvSpPr>
          <p:nvPr/>
        </p:nvSpPr>
        <p:spPr>
          <a:xfrm xmlns:a="http://schemas.openxmlformats.org/drawingml/2006/main">
            <a:off x="6953250" y="4229100"/>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2563EB"/>
          </a:solidFill>
          <a:ln xmlns:a="http://schemas.openxmlformats.org/drawingml/2006/main" w="0">
            <a:solidFill>
              <a:srgbClr val="2563EB"/>
            </a:solidFill>
            <a:prstDash val="solid"/>
          </a:ln>
        </p:spPr>
      </p:sp>
      <p:sp>
        <p:nvSpPr>
          <p:cNvPr id="63" name="path-63">
            <a:extLst xmlns:a="http://schemas.openxmlformats.org/drawingml/2006/main">
              <a:ext uri="{FF2B5EF4-FFF2-40B4-BE49-F238E27FC236}">
                <a16:creationId xmlns:a16="http://schemas.microsoft.com/office/drawing/2014/main" id="{24B6DD35-25C3-432B-B4D8-3DDFB9DD53E1}"/>
              </a:ext>
            </a:extLst>
          </p:cNvPr>
          <p:cNvSpPr>
            <a:spLocks xmlns:a="http://schemas.openxmlformats.org/drawingml/2006/main" noGrp="1"/>
          </p:cNvSpPr>
          <p:nvPr/>
        </p:nvSpPr>
        <p:spPr>
          <a:xfrm xmlns:a="http://schemas.openxmlformats.org/drawingml/2006/main">
            <a:off x="6953250" y="3619500"/>
            <a:ext cx="95250" cy="104775"/>
          </a:xfrm>
          <a:custGeom xmlns:a="http://schemas.openxmlformats.org/drawingml/2006/main">
            <a:pathLst>
              <a:path w="95250" h="104775">
                <a:moveTo>
                  <a:pt x="47625" y="0"/>
                </a:moveTo>
                <a:lnTo>
                  <a:pt x="0" y="104775"/>
                </a:lnTo>
                <a:lnTo>
                  <a:pt x="95250" y="104775"/>
                </a:lnTo>
                <a:close/>
              </a:path>
            </a:pathLst>
          </a:custGeom>
          <a:solidFill xmlns:a="http://schemas.openxmlformats.org/drawingml/2006/main">
            <a:srgbClr val="2563EB"/>
          </a:solidFill>
          <a:ln xmlns:a="http://schemas.openxmlformats.org/drawingml/2006/main" w="0">
            <a:solidFill>
              <a:srgbClr val="2563EB"/>
            </a:solidFill>
            <a:prstDash val="solid"/>
          </a:ln>
        </p:spPr>
      </p:sp>
      <p:sp>
        <p:nvSpPr>
          <p:cNvPr id="64" name="text-64">
            <a:extLst xmlns:a="http://schemas.openxmlformats.org/drawingml/2006/main">
              <a:ext uri="{FF2B5EF4-FFF2-40B4-BE49-F238E27FC236}">
                <a16:creationId xmlns:a16="http://schemas.microsoft.com/office/drawing/2014/main" id="{25DB9F7B-41C3-47B2-8AAF-424046CDB7AB}"/>
              </a:ext>
            </a:extLst>
          </p:cNvPr>
          <p:cNvSpPr>
            <a:spLocks xmlns:a="http://schemas.openxmlformats.org/drawingml/2006/main" noGrp="1"/>
          </p:cNvSpPr>
          <p:nvPr/>
        </p:nvSpPr>
        <p:spPr>
          <a:xfrm xmlns:a="http://schemas.openxmlformats.org/drawingml/2006/main">
            <a:off x="7124700" y="38385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defRPr sz="1350" b="1">
                <a:solidFill>
                  <a:srgbClr val="2563EB"/>
                </a:solidFill>
                <a:latin typeface="Arial"/>
                <a:ea typeface="Arial"/>
                <a:cs typeface="Arial"/>
              </a:defRPr>
            </a:pPr>
            <a:r>
              <a:rPr sz="1350" b="1">
                <a:solidFill>
                  <a:srgbClr val="2563EB"/>
                </a:solidFill>
                <a:latin typeface="Arial"/>
                <a:ea typeface="Arial"/>
                <a:cs typeface="Arial"/>
              </a:rPr>
              <a:t>assistant</a:t>
            </a:r>
          </a:p>
        </p:txBody>
      </p:sp>
      <p:sp>
        <p:nvSpPr>
          <p:cNvPr id="65" name="path-65">
            <a:extLst xmlns:a="http://schemas.openxmlformats.org/drawingml/2006/main">
              <a:ext uri="{FF2B5EF4-FFF2-40B4-BE49-F238E27FC236}">
                <a16:creationId xmlns:a16="http://schemas.microsoft.com/office/drawing/2014/main" id="{1C8001E3-7DA0-4E61-81ED-213399C04A84}"/>
              </a:ext>
            </a:extLst>
          </p:cNvPr>
          <p:cNvSpPr>
            <a:spLocks xmlns:a="http://schemas.openxmlformats.org/drawingml/2006/main" noGrp="1"/>
          </p:cNvSpPr>
          <p:nvPr/>
        </p:nvSpPr>
        <p:spPr>
          <a:xfrm xmlns:a="http://schemas.openxmlformats.org/drawingml/2006/main">
            <a:off x="9048750" y="361950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2563EB"/>
            </a:solidFill>
            <a:prstDash val="dash"/>
          </a:ln>
        </p:spPr>
      </p:sp>
      <p:sp>
        <p:nvSpPr>
          <p:cNvPr id="66" name="path-66">
            <a:extLst xmlns:a="http://schemas.openxmlformats.org/drawingml/2006/main">
              <a:ext uri="{FF2B5EF4-FFF2-40B4-BE49-F238E27FC236}">
                <a16:creationId xmlns:a16="http://schemas.microsoft.com/office/drawing/2014/main" id="{B628204F-06F5-47A6-BA71-93EC9401CA44}"/>
              </a:ext>
            </a:extLst>
          </p:cNvPr>
          <p:cNvSpPr>
            <a:spLocks xmlns:a="http://schemas.openxmlformats.org/drawingml/2006/main" noGrp="1"/>
          </p:cNvSpPr>
          <p:nvPr/>
        </p:nvSpPr>
        <p:spPr>
          <a:xfrm xmlns:a="http://schemas.openxmlformats.org/drawingml/2006/main">
            <a:off x="9001125" y="4229100"/>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2563EB"/>
          </a:solidFill>
          <a:ln xmlns:a="http://schemas.openxmlformats.org/drawingml/2006/main" w="0">
            <a:solidFill>
              <a:srgbClr val="2563EB"/>
            </a:solidFill>
            <a:prstDash val="solid"/>
          </a:ln>
        </p:spPr>
      </p:sp>
      <p:sp>
        <p:nvSpPr>
          <p:cNvPr id="67" name="text-67">
            <a:extLst xmlns:a="http://schemas.openxmlformats.org/drawingml/2006/main">
              <a:ext uri="{FF2B5EF4-FFF2-40B4-BE49-F238E27FC236}">
                <a16:creationId xmlns:a16="http://schemas.microsoft.com/office/drawing/2014/main" id="{9AF80382-967C-49E2-9EF2-68E8B9F35482}"/>
              </a:ext>
            </a:extLst>
          </p:cNvPr>
          <p:cNvSpPr>
            <a:spLocks xmlns:a="http://schemas.openxmlformats.org/drawingml/2006/main" noGrp="1"/>
          </p:cNvSpPr>
          <p:nvPr/>
        </p:nvSpPr>
        <p:spPr>
          <a:xfrm xmlns:a="http://schemas.openxmlformats.org/drawingml/2006/main">
            <a:off x="9191625" y="38385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defRPr sz="1350" b="1">
                <a:solidFill>
                  <a:srgbClr val="2563EB"/>
                </a:solidFill>
                <a:latin typeface="Arial"/>
                <a:ea typeface="Arial"/>
                <a:cs typeface="Arial"/>
              </a:defRPr>
            </a:pPr>
            <a:r>
              <a:rPr sz="1350" b="1">
                <a:solidFill>
                  <a:srgbClr val="2563EB"/>
                </a:solidFill>
                <a:latin typeface="Arial"/>
                <a:ea typeface="Arial"/>
                <a:cs typeface="Arial"/>
              </a:rPr>
              <a:t>jobs</a:t>
            </a:r>
          </a:p>
        </p:txBody>
      </p:sp>
      <p:sp>
        <p:nvSpPr>
          <p:cNvPr id="68" name="path-68">
            <a:extLst xmlns:a="http://schemas.openxmlformats.org/drawingml/2006/main">
              <a:ext uri="{FF2B5EF4-FFF2-40B4-BE49-F238E27FC236}">
                <a16:creationId xmlns:a16="http://schemas.microsoft.com/office/drawing/2014/main" id="{9CB2AD0D-A106-4508-9745-95A28E1EEE74}"/>
              </a:ext>
            </a:extLst>
          </p:cNvPr>
          <p:cNvSpPr>
            <a:spLocks xmlns:a="http://schemas.openxmlformats.org/drawingml/2006/main" noGrp="1"/>
          </p:cNvSpPr>
          <p:nvPr/>
        </p:nvSpPr>
        <p:spPr>
          <a:xfrm xmlns:a="http://schemas.openxmlformats.org/drawingml/2006/main">
            <a:off x="10287000" y="3619500"/>
            <a:ext cx="2238375" cy="714375"/>
          </a:xfrm>
          <a:custGeom xmlns:a="http://schemas.openxmlformats.org/drawingml/2006/main">
            <a:pathLst>
              <a:path w="2238375" h="714375">
                <a:moveTo>
                  <a:pt x="2238375" y="0"/>
                </a:moveTo>
                <a:lnTo>
                  <a:pt x="2238375" y="390525"/>
                </a:lnTo>
                <a:lnTo>
                  <a:pt x="0" y="390525"/>
                </a:lnTo>
                <a:lnTo>
                  <a:pt x="0" y="714375"/>
                </a:lnTo>
              </a:path>
            </a:pathLst>
          </a:custGeom>
          <a:noFill xmlns:a="http://schemas.openxmlformats.org/drawingml/2006/main"/>
          <a:ln xmlns:a="http://schemas.openxmlformats.org/drawingml/2006/main" w="28575">
            <a:solidFill>
              <a:srgbClr val="B77909"/>
            </a:solidFill>
            <a:prstDash val="dash"/>
          </a:ln>
        </p:spPr>
      </p:sp>
      <p:sp>
        <p:nvSpPr>
          <p:cNvPr id="69" name="path-69">
            <a:extLst xmlns:a="http://schemas.openxmlformats.org/drawingml/2006/main">
              <a:ext uri="{FF2B5EF4-FFF2-40B4-BE49-F238E27FC236}">
                <a16:creationId xmlns:a16="http://schemas.microsoft.com/office/drawing/2014/main" id="{D327375A-5633-4734-880B-DAFFAA9977AC}"/>
              </a:ext>
            </a:extLst>
          </p:cNvPr>
          <p:cNvSpPr>
            <a:spLocks xmlns:a="http://schemas.openxmlformats.org/drawingml/2006/main" noGrp="1"/>
          </p:cNvSpPr>
          <p:nvPr/>
        </p:nvSpPr>
        <p:spPr>
          <a:xfrm xmlns:a="http://schemas.openxmlformats.org/drawingml/2006/main">
            <a:off x="10239375" y="4229100"/>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B77909"/>
          </a:solidFill>
          <a:ln xmlns:a="http://schemas.openxmlformats.org/drawingml/2006/main" w="0">
            <a:solidFill>
              <a:srgbClr val="B77909"/>
            </a:solidFill>
            <a:prstDash val="solid"/>
          </a:ln>
        </p:spPr>
      </p:sp>
      <p:sp>
        <p:nvSpPr>
          <p:cNvPr id="70" name="text-70">
            <a:extLst xmlns:a="http://schemas.openxmlformats.org/drawingml/2006/main">
              <a:ext uri="{FF2B5EF4-FFF2-40B4-BE49-F238E27FC236}">
                <a16:creationId xmlns:a16="http://schemas.microsoft.com/office/drawing/2014/main" id="{595A59F9-27BA-4C0B-8089-CD10D4AF8283}"/>
              </a:ext>
            </a:extLst>
          </p:cNvPr>
          <p:cNvSpPr>
            <a:spLocks xmlns:a="http://schemas.openxmlformats.org/drawingml/2006/main" noGrp="1"/>
          </p:cNvSpPr>
          <p:nvPr/>
        </p:nvSpPr>
        <p:spPr>
          <a:xfrm xmlns:a="http://schemas.openxmlformats.org/drawingml/2006/main">
            <a:off x="10763250" y="3743325"/>
            <a:ext cx="1304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B77909"/>
                </a:solidFill>
                <a:latin typeface="Arial"/>
                <a:ea typeface="Arial"/>
                <a:cs typeface="Arial"/>
              </a:defRPr>
            </a:defPPr>
          </a:lstStyle>
          <a:p xmlns:a="http://schemas.openxmlformats.org/drawingml/2006/main">
            <a:pPr algn="l">
              <a:defRPr sz="1350" b="1">
                <a:solidFill>
                  <a:srgbClr val="B77909"/>
                </a:solidFill>
                <a:latin typeface="Arial"/>
                <a:ea typeface="Arial"/>
                <a:cs typeface="Arial"/>
              </a:defRPr>
            </a:pPr>
            <a:r>
              <a:rPr sz="1350" b="1">
                <a:solidFill>
                  <a:srgbClr val="B77909"/>
                </a:solidFill>
                <a:latin typeface="Arial"/>
                <a:ea typeface="Arial"/>
                <a:cs typeface="Arial"/>
              </a:rPr>
              <a:t>code release</a:t>
            </a:r>
          </a:p>
        </p:txBody>
      </p:sp>
      <p:sp>
        <p:nvSpPr>
          <p:cNvPr id="71" name="path-71">
            <a:extLst xmlns:a="http://schemas.openxmlformats.org/drawingml/2006/main">
              <a:ext uri="{FF2B5EF4-FFF2-40B4-BE49-F238E27FC236}">
                <a16:creationId xmlns:a16="http://schemas.microsoft.com/office/drawing/2014/main" id="{8713EA5B-A3DA-418F-8767-E93BF833B76C}"/>
              </a:ext>
            </a:extLst>
          </p:cNvPr>
          <p:cNvSpPr>
            <a:spLocks xmlns:a="http://schemas.openxmlformats.org/drawingml/2006/main" noGrp="1"/>
          </p:cNvSpPr>
          <p:nvPr/>
        </p:nvSpPr>
        <p:spPr>
          <a:xfrm xmlns:a="http://schemas.openxmlformats.org/drawingml/2006/main">
            <a:off x="5810250" y="5543550"/>
            <a:ext cx="762000" cy="9525"/>
          </a:xfrm>
          <a:custGeom xmlns:a="http://schemas.openxmlformats.org/drawingml/2006/main">
            <a:pathLst>
              <a:path w="762000" h="9525">
                <a:moveTo>
                  <a:pt x="762000" y="0"/>
                </a:moveTo>
                <a:lnTo>
                  <a:pt x="0" y="0"/>
                </a:lnTo>
              </a:path>
            </a:pathLst>
          </a:custGeom>
          <a:noFill xmlns:a="http://schemas.openxmlformats.org/drawingml/2006/main"/>
          <a:ln xmlns:a="http://schemas.openxmlformats.org/drawingml/2006/main" w="28575">
            <a:solidFill>
              <a:srgbClr val="16A34A"/>
            </a:solidFill>
            <a:prstDash val="solid"/>
          </a:ln>
        </p:spPr>
      </p:sp>
      <p:sp>
        <p:nvSpPr>
          <p:cNvPr id="72" name="path-72">
            <a:extLst xmlns:a="http://schemas.openxmlformats.org/drawingml/2006/main">
              <a:ext uri="{FF2B5EF4-FFF2-40B4-BE49-F238E27FC236}">
                <a16:creationId xmlns:a16="http://schemas.microsoft.com/office/drawing/2014/main" id="{87350108-B8FA-4019-9A8E-A2F7EEAF9491}"/>
              </a:ext>
            </a:extLst>
          </p:cNvPr>
          <p:cNvSpPr>
            <a:spLocks xmlns:a="http://schemas.openxmlformats.org/drawingml/2006/main" noGrp="1"/>
          </p:cNvSpPr>
          <p:nvPr/>
        </p:nvSpPr>
        <p:spPr>
          <a:xfrm xmlns:a="http://schemas.openxmlformats.org/drawingml/2006/main">
            <a:off x="5810250" y="549592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16A34A"/>
          </a:solidFill>
          <a:ln xmlns:a="http://schemas.openxmlformats.org/drawingml/2006/main" w="0">
            <a:solidFill>
              <a:srgbClr val="16A34A"/>
            </a:solidFill>
            <a:prstDash val="solid"/>
          </a:ln>
        </p:spPr>
      </p:sp>
      <p:sp>
        <p:nvSpPr>
          <p:cNvPr id="73" name="path-73">
            <a:extLst xmlns:a="http://schemas.openxmlformats.org/drawingml/2006/main">
              <a:ext uri="{FF2B5EF4-FFF2-40B4-BE49-F238E27FC236}">
                <a16:creationId xmlns:a16="http://schemas.microsoft.com/office/drawing/2014/main" id="{B58A4FA4-A478-413E-9D2E-76ED6E25314E}"/>
              </a:ext>
            </a:extLst>
          </p:cNvPr>
          <p:cNvSpPr>
            <a:spLocks xmlns:a="http://schemas.openxmlformats.org/drawingml/2006/main" noGrp="1"/>
          </p:cNvSpPr>
          <p:nvPr/>
        </p:nvSpPr>
        <p:spPr>
          <a:xfrm xmlns:a="http://schemas.openxmlformats.org/drawingml/2006/main">
            <a:off x="6467475" y="549592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16A34A"/>
          </a:solidFill>
          <a:ln xmlns:a="http://schemas.openxmlformats.org/drawingml/2006/main" w="0">
            <a:solidFill>
              <a:srgbClr val="16A34A"/>
            </a:solidFill>
            <a:prstDash val="solid"/>
          </a:ln>
        </p:spPr>
      </p:sp>
      <p:sp>
        <p:nvSpPr>
          <p:cNvPr id="74" name="text-74">
            <a:extLst xmlns:a="http://schemas.openxmlformats.org/drawingml/2006/main">
              <a:ext uri="{FF2B5EF4-FFF2-40B4-BE49-F238E27FC236}">
                <a16:creationId xmlns:a16="http://schemas.microsoft.com/office/drawing/2014/main" id="{981937A8-730A-4F7E-B505-6AF2343086C9}"/>
              </a:ext>
            </a:extLst>
          </p:cNvPr>
          <p:cNvSpPr>
            <a:spLocks xmlns:a="http://schemas.openxmlformats.org/drawingml/2006/main" noGrp="1"/>
          </p:cNvSpPr>
          <p:nvPr/>
        </p:nvSpPr>
        <p:spPr>
          <a:xfrm xmlns:a="http://schemas.openxmlformats.org/drawingml/2006/main">
            <a:off x="5981700" y="5181600"/>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16A34A"/>
                </a:solidFill>
                <a:latin typeface="Arial"/>
                <a:ea typeface="Arial"/>
                <a:cs typeface="Arial"/>
              </a:defRPr>
            </a:defPPr>
          </a:lstStyle>
          <a:p xmlns:a="http://schemas.openxmlformats.org/drawingml/2006/main">
            <a:pPr algn="l">
              <a:defRPr sz="1350" b="1">
                <a:solidFill>
                  <a:srgbClr val="16A34A"/>
                </a:solidFill>
                <a:latin typeface="Arial"/>
                <a:ea typeface="Arial"/>
                <a:cs typeface="Arial"/>
              </a:defRPr>
            </a:pPr>
            <a:r>
              <a:rPr sz="1350" b="1">
                <a:solidFill>
                  <a:srgbClr val="16A34A"/>
                </a:solidFill>
                <a:latin typeface="Arial"/>
                <a:ea typeface="Arial"/>
                <a:cs typeface="Arial"/>
              </a:rPr>
              <a:t>files</a:t>
            </a:r>
          </a:p>
        </p:txBody>
      </p:sp>
      <p:sp>
        <p:nvSpPr>
          <p:cNvPr id="75" name="path-75">
            <a:extLst xmlns:a="http://schemas.openxmlformats.org/drawingml/2006/main">
              <a:ext uri="{FF2B5EF4-FFF2-40B4-BE49-F238E27FC236}">
                <a16:creationId xmlns:a16="http://schemas.microsoft.com/office/drawing/2014/main" id="{649111C2-B258-4921-9F30-5F12C491A419}"/>
              </a:ext>
            </a:extLst>
          </p:cNvPr>
          <p:cNvSpPr>
            <a:spLocks xmlns:a="http://schemas.openxmlformats.org/drawingml/2006/main" noGrp="1"/>
          </p:cNvSpPr>
          <p:nvPr/>
        </p:nvSpPr>
        <p:spPr>
          <a:xfrm xmlns:a="http://schemas.openxmlformats.org/drawingml/2006/main">
            <a:off x="10715625" y="59340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28575">
            <a:solidFill>
              <a:srgbClr val="DB2777"/>
            </a:solidFill>
            <a:prstDash val="solid"/>
          </a:ln>
        </p:spPr>
      </p:sp>
      <p:sp>
        <p:nvSpPr>
          <p:cNvPr id="76" name="path-76">
            <a:extLst xmlns:a="http://schemas.openxmlformats.org/drawingml/2006/main">
              <a:ext uri="{FF2B5EF4-FFF2-40B4-BE49-F238E27FC236}">
                <a16:creationId xmlns:a16="http://schemas.microsoft.com/office/drawing/2014/main" id="{CEB05A3C-72AD-48D8-A4D8-CAE8255647FC}"/>
              </a:ext>
            </a:extLst>
          </p:cNvPr>
          <p:cNvSpPr>
            <a:spLocks xmlns:a="http://schemas.openxmlformats.org/drawingml/2006/main" noGrp="1"/>
          </p:cNvSpPr>
          <p:nvPr/>
        </p:nvSpPr>
        <p:spPr>
          <a:xfrm xmlns:a="http://schemas.openxmlformats.org/drawingml/2006/main">
            <a:off x="11372850" y="5886450"/>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DB2777"/>
          </a:solidFill>
          <a:ln xmlns:a="http://schemas.openxmlformats.org/drawingml/2006/main" w="0">
            <a:solidFill>
              <a:srgbClr val="DB2777"/>
            </a:solidFill>
            <a:prstDash val="solid"/>
          </a:ln>
        </p:spPr>
      </p:sp>
      <p:sp>
        <p:nvSpPr>
          <p:cNvPr id="77" name="text-77">
            <a:extLst xmlns:a="http://schemas.openxmlformats.org/drawingml/2006/main">
              <a:ext uri="{FF2B5EF4-FFF2-40B4-BE49-F238E27FC236}">
                <a16:creationId xmlns:a16="http://schemas.microsoft.com/office/drawing/2014/main" id="{5CB48131-870A-48A4-A98F-AAD3585B0E55}"/>
              </a:ext>
            </a:extLst>
          </p:cNvPr>
          <p:cNvSpPr>
            <a:spLocks xmlns:a="http://schemas.openxmlformats.org/drawingml/2006/main" noGrp="1"/>
          </p:cNvSpPr>
          <p:nvPr/>
        </p:nvSpPr>
        <p:spPr>
          <a:xfrm xmlns:a="http://schemas.openxmlformats.org/drawingml/2006/main">
            <a:off x="10801350" y="53721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DB2777"/>
                </a:solidFill>
                <a:latin typeface="Arial"/>
                <a:ea typeface="Arial"/>
                <a:cs typeface="Arial"/>
              </a:defRPr>
            </a:defPPr>
          </a:lstStyle>
          <a:p xmlns:a="http://schemas.openxmlformats.org/drawingml/2006/main">
            <a:pPr algn="l">
              <a:defRPr sz="1275" b="1">
                <a:solidFill>
                  <a:srgbClr val="DB2777"/>
                </a:solidFill>
                <a:latin typeface="Arial"/>
                <a:ea typeface="Arial"/>
                <a:cs typeface="Arial"/>
              </a:defRPr>
            </a:pPr>
            <a:r>
              <a:rPr sz="1275" b="1">
                <a:solidFill>
                  <a:srgbClr val="DB2777"/>
                </a:solidFill>
                <a:latin typeface="Arial"/>
                <a:ea typeface="Arial"/>
                <a:cs typeface="Arial"/>
              </a:rPr>
              <a:t>backup /</a:t>
            </a:r>
          </a:p>
          <a:p xmlns:a="http://schemas.openxmlformats.org/drawingml/2006/main">
            <a:pPr algn="l">
              <a:defRPr sz="1275" b="1">
                <a:solidFill>
                  <a:srgbClr val="DB2777"/>
                </a:solidFill>
                <a:latin typeface="Arial"/>
                <a:ea typeface="Arial"/>
                <a:cs typeface="Arial"/>
              </a:defRPr>
            </a:pPr>
            <a:r>
              <a:rPr sz="1275" b="1">
                <a:solidFill>
                  <a:srgbClr val="DB2777"/>
                </a:solidFill>
                <a:latin typeface="Arial"/>
                <a:ea typeface="Arial"/>
                <a:cs typeface="Arial"/>
              </a:rPr>
              <a:t>archive</a:t>
            </a:r>
          </a:p>
        </p:txBody>
      </p:sp>
      <p:sp>
        <p:nvSpPr>
          <p:cNvPr id="78" name="text-78">
            <a:extLst xmlns:a="http://schemas.openxmlformats.org/drawingml/2006/main">
              <a:ext uri="{FF2B5EF4-FFF2-40B4-BE49-F238E27FC236}">
                <a16:creationId xmlns:a16="http://schemas.microsoft.com/office/drawing/2014/main" id="{E375FC71-C71E-4B3C-8E75-91E089749993}"/>
              </a:ext>
            </a:extLst>
          </p:cNvPr>
          <p:cNvSpPr>
            <a:spLocks xmlns:a="http://schemas.openxmlformats.org/drawingml/2006/main" noGrp="1"/>
          </p:cNvSpPr>
          <p:nvPr/>
        </p:nvSpPr>
        <p:spPr>
          <a:xfrm xmlns:a="http://schemas.openxmlformats.org/drawingml/2006/main">
            <a:off x="381000" y="7839075"/>
            <a:ext cx="1447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182437"/>
                </a:solidFill>
                <a:latin typeface="Arial"/>
                <a:ea typeface="Arial"/>
                <a:cs typeface="Arial"/>
              </a:defRPr>
            </a:defPPr>
          </a:lstStyle>
          <a:p xmlns:a="http://schemas.openxmlformats.org/drawingml/2006/main">
            <a:pPr algn="l">
              <a:defRPr sz="1950" b="1">
                <a:solidFill>
                  <a:srgbClr val="182437"/>
                </a:solidFill>
                <a:latin typeface="Arial"/>
                <a:ea typeface="Arial"/>
                <a:cs typeface="Arial"/>
              </a:defRPr>
            </a:pPr>
            <a:r>
              <a:rPr sz="1950" b="1">
                <a:solidFill>
                  <a:srgbClr val="182437"/>
                </a:solidFill>
                <a:latin typeface="Arial"/>
                <a:ea typeface="Arial"/>
                <a:cs typeface="Arial"/>
              </a:rPr>
              <a:t>Images on NAS · catalogue and orchestration in Hub · code versions in GitLab</a:t>
            </a:r>
          </a:p>
        </p:txBody>
      </p:sp>
      <p:sp>
        <p:nvSpPr>
          <p:cNvPr id="79" name="text-79">
            <a:extLst xmlns:a="http://schemas.openxmlformats.org/drawingml/2006/main">
              <a:ext uri="{FF2B5EF4-FFF2-40B4-BE49-F238E27FC236}">
                <a16:creationId xmlns:a16="http://schemas.microsoft.com/office/drawing/2014/main" id="{F19DF6B3-B036-43A4-BF5F-7F2940132F29}"/>
              </a:ext>
            </a:extLst>
          </p:cNvPr>
          <p:cNvSpPr>
            <a:spLocks xmlns:a="http://schemas.openxmlformats.org/drawingml/2006/main" noGrp="1"/>
          </p:cNvSpPr>
          <p:nvPr/>
        </p:nvSpPr>
        <p:spPr>
          <a:xfrm xmlns:a="http://schemas.openxmlformats.org/drawingml/2006/main">
            <a:off x="381000" y="8248650"/>
            <a:ext cx="1447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69778A"/>
                </a:solidFill>
                <a:latin typeface="Arial"/>
                <a:ea typeface="Arial"/>
                <a:cs typeface="Arial"/>
              </a:defRPr>
            </a:defPPr>
          </a:lstStyle>
          <a:p xmlns:a="http://schemas.openxmlformats.org/drawingml/2006/main">
            <a:pPr algn="l">
              <a:defRPr sz="1275" b="0">
                <a:solidFill>
                  <a:srgbClr val="69778A"/>
                </a:solidFill>
                <a:latin typeface="Arial"/>
                <a:ea typeface="Arial"/>
                <a:cs typeface="Arial"/>
              </a:defRPr>
            </a:pPr>
            <a:r>
              <a:rPr sz="1275" b="0">
                <a:solidFill>
                  <a:srgbClr val="69778A"/>
                </a:solidFill>
                <a:latin typeface="Arial"/>
                <a:ea typeface="Arial"/>
                <a:cs typeface="Arial"/>
              </a:rPr>
              <a:t>Dashed Qwen box = planned agent tools. Restic scheduler was disabled at the last documented live check.</a:t>
            </a:r>
          </a:p>
        </p:txBody>
      </p:sp>
    </p:spTree>
    <p:extLst>
      <p:ext uri="{BB962C8B-B14F-4D97-AF65-F5344CB8AC3E}">
        <p14:creationId xmlns:p14="http://schemas.microsoft.com/office/powerpoint/2010/main" val="4001834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2026-10-12T09:43:11.3450000Z</dcterms:created>
  <dcterms:modified xsi:type="dcterms:W3CDTF">2026-10-12T09:43:11.3450000Z</dcterms:modified>
</coreProperties>
</file>